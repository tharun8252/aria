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2" r:id="rId6"/>
    <p:sldId id="263" r:id="rId7"/>
    <p:sldId id="264" r:id="rId8"/>
    <p:sldId id="265" r:id="rId9"/>
    <p:sldId id="278" r:id="rId10"/>
    <p:sldId id="266" r:id="rId11"/>
    <p:sldId id="267" r:id="rId12"/>
    <p:sldId id="268" r:id="rId13"/>
    <p:sldId id="275" r:id="rId14"/>
    <p:sldId id="277" r:id="rId15"/>
    <p:sldId id="269" r:id="rId16"/>
    <p:sldId id="274" r:id="rId17"/>
    <p:sldId id="276"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962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A3557"/>
          </a:solidFill>
          <a:ln w="12700">
            <a:solidFill>
              <a:srgbClr val="1A3557"/>
            </a:solidFill>
            <a:prstDash val="solid"/>
          </a:ln>
        </p:spPr>
        <p:txBody>
          <a:bodyPr/>
          <a:lstStyle/>
          <a:p>
            <a:endParaRPr lang="en-IN"/>
          </a:p>
        </p:txBody>
      </p:sp>
      <p:sp>
        <p:nvSpPr>
          <p:cNvPr id="3" name="Shape 1"/>
          <p:cNvSpPr/>
          <p:nvPr/>
        </p:nvSpPr>
        <p:spPr>
          <a:xfrm>
            <a:off x="0" y="0"/>
            <a:ext cx="182880" cy="5143500"/>
          </a:xfrm>
          <a:prstGeom prst="rect">
            <a:avLst/>
          </a:prstGeom>
          <a:solidFill>
            <a:srgbClr val="1A6EBD"/>
          </a:solidFill>
          <a:ln/>
        </p:spPr>
        <p:txBody>
          <a:bodyPr/>
          <a:lstStyle/>
          <a:p>
            <a:endParaRPr lang="en-IN"/>
          </a:p>
        </p:txBody>
      </p:sp>
      <p:sp>
        <p:nvSpPr>
          <p:cNvPr id="4" name="Text 2"/>
          <p:cNvSpPr/>
          <p:nvPr/>
        </p:nvSpPr>
        <p:spPr>
          <a:xfrm>
            <a:off x="274320" y="365760"/>
            <a:ext cx="3017520" cy="347472"/>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M .Tech Cyber Security</a:t>
            </a:r>
            <a:endParaRPr lang="en-US" sz="1100" dirty="0"/>
          </a:p>
        </p:txBody>
      </p:sp>
      <p:sp>
        <p:nvSpPr>
          <p:cNvPr id="5" name="Text 3"/>
          <p:cNvSpPr/>
          <p:nvPr/>
        </p:nvSpPr>
        <p:spPr>
          <a:xfrm>
            <a:off x="274320" y="685800"/>
            <a:ext cx="3017520" cy="320040"/>
          </a:xfrm>
          <a:prstGeom prst="rect">
            <a:avLst/>
          </a:prstGeom>
          <a:noFill/>
          <a:ln/>
        </p:spPr>
        <p:txBody>
          <a:bodyPr wrap="square"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TIFAC-CORE in Cyber Security</a:t>
            </a:r>
            <a:endParaRPr lang="en-US" sz="1050" dirty="0"/>
          </a:p>
        </p:txBody>
      </p:sp>
      <p:sp>
        <p:nvSpPr>
          <p:cNvPr id="6" name="Text 4"/>
          <p:cNvSpPr/>
          <p:nvPr/>
        </p:nvSpPr>
        <p:spPr>
          <a:xfrm>
            <a:off x="274320" y="978408"/>
            <a:ext cx="3017520" cy="292608"/>
          </a:xfrm>
          <a:prstGeom prst="rect">
            <a:avLst/>
          </a:prstGeom>
          <a:noFill/>
          <a:ln/>
        </p:spPr>
        <p:txBody>
          <a:bodyPr wrap="square" rtlCol="0" anchor="ctr"/>
          <a:lstStyle/>
          <a:p>
            <a:pPr marL="0" indent="0">
              <a:buNone/>
            </a:pPr>
            <a:r>
              <a:rPr lang="en-US" sz="1000" dirty="0">
                <a:solidFill>
                  <a:srgbClr val="99B8D8"/>
                </a:solidFill>
                <a:latin typeface="Calibri" pitchFamily="34" charset="0"/>
                <a:ea typeface="Calibri" pitchFamily="34" charset="-122"/>
                <a:cs typeface="Calibri" pitchFamily="34" charset="-120"/>
              </a:rPr>
              <a:t>Amrita Vishwa Vidyapeetham</a:t>
            </a:r>
            <a:endParaRPr lang="en-US" sz="1000" dirty="0"/>
          </a:p>
        </p:txBody>
      </p:sp>
      <p:sp>
        <p:nvSpPr>
          <p:cNvPr id="7" name="Shape 5"/>
          <p:cNvSpPr/>
          <p:nvPr/>
        </p:nvSpPr>
        <p:spPr>
          <a:xfrm>
            <a:off x="274320" y="1463040"/>
            <a:ext cx="2926080" cy="36576"/>
          </a:xfrm>
          <a:prstGeom prst="rect">
            <a:avLst/>
          </a:prstGeom>
          <a:solidFill>
            <a:srgbClr val="1A6EBD"/>
          </a:solidFill>
          <a:ln/>
        </p:spPr>
        <p:txBody>
          <a:bodyPr/>
          <a:lstStyle/>
          <a:p>
            <a:endParaRPr lang="en-IN"/>
          </a:p>
        </p:txBody>
      </p:sp>
      <p:sp>
        <p:nvSpPr>
          <p:cNvPr id="8" name="Text 6"/>
          <p:cNvSpPr/>
          <p:nvPr/>
        </p:nvSpPr>
        <p:spPr>
          <a:xfrm>
            <a:off x="274320" y="1600200"/>
            <a:ext cx="3017520" cy="1097280"/>
          </a:xfrm>
          <a:prstGeom prst="rect">
            <a:avLst/>
          </a:prstGeom>
          <a:noFill/>
          <a:ln/>
        </p:spPr>
        <p:txBody>
          <a:bodyPr wrap="square"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Project Guide</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Dr. S. Durga</a:t>
            </a:r>
            <a:endParaRPr lang="en-US" sz="1150" dirty="0"/>
          </a:p>
          <a:p>
            <a:pPr marL="0" indent="0">
              <a:buNone/>
            </a:pPr>
            <a:r>
              <a:rPr lang="en-US" sz="1150" dirty="0">
                <a:solidFill>
                  <a:srgbClr val="99B8D8"/>
                </a:solidFill>
                <a:latin typeface="Calibri" pitchFamily="34" charset="0"/>
                <a:ea typeface="Calibri" pitchFamily="34" charset="-122"/>
                <a:cs typeface="Calibri" pitchFamily="34" charset="-120"/>
              </a:rPr>
              <a:t>Assistant Professor</a:t>
            </a:r>
            <a:endParaRPr lang="en-US" sz="1150" dirty="0"/>
          </a:p>
          <a:p>
            <a:pPr marL="0" indent="0">
              <a:buNone/>
            </a:pPr>
            <a:r>
              <a:rPr lang="en-US" sz="1150" dirty="0">
                <a:solidFill>
                  <a:srgbClr val="99B8D8"/>
                </a:solidFill>
                <a:latin typeface="Calibri" pitchFamily="34" charset="0"/>
                <a:ea typeface="Calibri" pitchFamily="34" charset="-122"/>
                <a:cs typeface="Calibri" pitchFamily="34" charset="-120"/>
              </a:rPr>
              <a:t>TIFAC-CORE in Cyber Security</a:t>
            </a:r>
            <a:endParaRPr lang="en-US" sz="1150" dirty="0"/>
          </a:p>
        </p:txBody>
      </p:sp>
      <p:sp>
        <p:nvSpPr>
          <p:cNvPr id="9" name="Shape 7"/>
          <p:cNvSpPr/>
          <p:nvPr/>
        </p:nvSpPr>
        <p:spPr>
          <a:xfrm>
            <a:off x="274320" y="2816352"/>
            <a:ext cx="2926080" cy="36576"/>
          </a:xfrm>
          <a:prstGeom prst="rect">
            <a:avLst/>
          </a:prstGeom>
          <a:solidFill>
            <a:srgbClr val="355E8A"/>
          </a:solidFill>
          <a:ln/>
        </p:spPr>
        <p:txBody>
          <a:bodyPr/>
          <a:lstStyle/>
          <a:p>
            <a:endParaRPr lang="en-IN"/>
          </a:p>
        </p:txBody>
      </p:sp>
      <p:sp>
        <p:nvSpPr>
          <p:cNvPr id="10" name="Text 8"/>
          <p:cNvSpPr/>
          <p:nvPr/>
        </p:nvSpPr>
        <p:spPr>
          <a:xfrm>
            <a:off x="274320" y="2926080"/>
            <a:ext cx="3017520" cy="777240"/>
          </a:xfrm>
          <a:prstGeom prst="rect">
            <a:avLst/>
          </a:prstGeom>
          <a:noFill/>
          <a:ln/>
        </p:spPr>
        <p:txBody>
          <a:bodyPr wrap="square" rtlCol="0" anchor="t"/>
          <a:lstStyle/>
          <a:p>
            <a:pPr marL="0" indent="0">
              <a:buNone/>
            </a:pPr>
            <a:r>
              <a:rPr lang="en-US" sz="1150" b="1" dirty="0">
                <a:solidFill>
                  <a:srgbClr val="CADCFC"/>
                </a:solidFill>
                <a:latin typeface="Calibri" pitchFamily="34" charset="0"/>
                <a:ea typeface="Calibri" pitchFamily="34" charset="-122"/>
                <a:cs typeface="Calibri" pitchFamily="34" charset="-120"/>
              </a:rPr>
              <a:t>Presented By</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Tharun S</a:t>
            </a:r>
            <a:endParaRPr lang="en-US" sz="1150" dirty="0"/>
          </a:p>
          <a:p>
            <a:pPr marL="0" indent="0">
              <a:buNone/>
            </a:pPr>
            <a:r>
              <a:rPr lang="en-US" sz="1150" dirty="0">
                <a:solidFill>
                  <a:srgbClr val="99B8D8"/>
                </a:solidFill>
                <a:latin typeface="Calibri" pitchFamily="34" charset="0"/>
                <a:ea typeface="Calibri" pitchFamily="34" charset="-122"/>
                <a:cs typeface="Calibri" pitchFamily="34" charset="-120"/>
              </a:rPr>
              <a:t>Roll No: CB.SC.P2CYS24019</a:t>
            </a:r>
            <a:endParaRPr lang="en-US" sz="1150" dirty="0"/>
          </a:p>
        </p:txBody>
      </p:sp>
      <p:sp>
        <p:nvSpPr>
          <p:cNvPr id="12" name="Text 10"/>
          <p:cNvSpPr/>
          <p:nvPr/>
        </p:nvSpPr>
        <p:spPr>
          <a:xfrm>
            <a:off x="274320" y="4480560"/>
            <a:ext cx="1280160" cy="365760"/>
          </a:xfrm>
          <a:prstGeom prst="rect">
            <a:avLst/>
          </a:prstGeom>
          <a:noFill/>
          <a:ln/>
        </p:spPr>
        <p:txBody>
          <a:bodyPr wrap="square" rtlCol="0" anchor="ctr"/>
          <a:lstStyle/>
          <a:p>
            <a:pPr marL="0" indent="0" algn="ctr">
              <a:buNone/>
            </a:pPr>
            <a:endParaRPr lang="en-US" sz="1300" dirty="0"/>
          </a:p>
        </p:txBody>
      </p:sp>
      <p:sp>
        <p:nvSpPr>
          <p:cNvPr id="13" name="Text 11"/>
          <p:cNvSpPr/>
          <p:nvPr/>
        </p:nvSpPr>
        <p:spPr>
          <a:xfrm>
            <a:off x="3749040" y="502920"/>
            <a:ext cx="5029200" cy="2011680"/>
          </a:xfrm>
          <a:prstGeom prst="rect">
            <a:avLst/>
          </a:prstGeom>
          <a:noFill/>
          <a:ln/>
        </p:spPr>
        <p:txBody>
          <a:bodyPr wrap="square" rtlCol="0" anchor="ctr"/>
          <a:lstStyle/>
          <a:p>
            <a:pPr marL="0" indent="0">
              <a:buNone/>
            </a:pPr>
            <a:r>
              <a:rPr lang="en-US" sz="4400" b="1" dirty="0">
                <a:solidFill>
                  <a:srgbClr val="1A3557"/>
                </a:solidFill>
                <a:latin typeface="Cambria" pitchFamily="34" charset="0"/>
                <a:ea typeface="Cambria" pitchFamily="34" charset="-122"/>
                <a:cs typeface="Cambria" pitchFamily="34" charset="-120"/>
              </a:rPr>
              <a:t>Securing</a:t>
            </a:r>
            <a:endParaRPr lang="en-US" sz="4400" dirty="0"/>
          </a:p>
          <a:p>
            <a:pPr marL="0" indent="0">
              <a:buNone/>
            </a:pPr>
            <a:r>
              <a:rPr lang="en-US" sz="4400" b="1" dirty="0">
                <a:solidFill>
                  <a:srgbClr val="1A3557"/>
                </a:solidFill>
                <a:latin typeface="Cambria" pitchFamily="34" charset="0"/>
                <a:ea typeface="Cambria" pitchFamily="34" charset="-122"/>
                <a:cs typeface="Cambria" pitchFamily="34" charset="-120"/>
              </a:rPr>
              <a:t>Agentic AI</a:t>
            </a:r>
            <a:endParaRPr lang="en-US" sz="4400" dirty="0"/>
          </a:p>
        </p:txBody>
      </p:sp>
      <p:sp>
        <p:nvSpPr>
          <p:cNvPr id="14" name="Shape 12"/>
          <p:cNvSpPr/>
          <p:nvPr/>
        </p:nvSpPr>
        <p:spPr>
          <a:xfrm>
            <a:off x="3749040" y="2651760"/>
            <a:ext cx="5029200" cy="45720"/>
          </a:xfrm>
          <a:prstGeom prst="rect">
            <a:avLst/>
          </a:prstGeom>
          <a:solidFill>
            <a:srgbClr val="1A6EBD"/>
          </a:solidFill>
          <a:ln/>
        </p:spPr>
        <p:txBody>
          <a:bodyPr/>
          <a:lstStyle/>
          <a:p>
            <a:endParaRPr lang="en-IN"/>
          </a:p>
        </p:txBody>
      </p:sp>
      <p:sp>
        <p:nvSpPr>
          <p:cNvPr id="15" name="Text 13"/>
          <p:cNvSpPr/>
          <p:nvPr/>
        </p:nvSpPr>
        <p:spPr>
          <a:xfrm>
            <a:off x="3749040" y="2788920"/>
            <a:ext cx="5029200" cy="1005840"/>
          </a:xfrm>
          <a:prstGeom prst="rect">
            <a:avLst/>
          </a:prstGeom>
          <a:noFill/>
          <a:ln/>
        </p:spPr>
        <p:txBody>
          <a:bodyPr wrap="square" rtlCol="0" anchor="ctr"/>
          <a:lstStyle/>
          <a:p>
            <a:pPr marL="0" indent="0">
              <a:buNone/>
            </a:pPr>
            <a:r>
              <a:rPr lang="en-US" sz="1800" i="1" dirty="0">
                <a:solidFill>
                  <a:srgbClr val="1A6EBD"/>
                </a:solidFill>
                <a:latin typeface="Cambria" pitchFamily="34" charset="0"/>
                <a:ea typeface="Cambria" pitchFamily="34" charset="-122"/>
                <a:cs typeface="Cambria" pitchFamily="34" charset="-120"/>
              </a:rPr>
              <a:t>From Attacks to Real-Time</a:t>
            </a:r>
            <a:endParaRPr lang="en-US" sz="1800" dirty="0"/>
          </a:p>
          <a:p>
            <a:pPr marL="0" indent="0">
              <a:buNone/>
            </a:pPr>
            <a:r>
              <a:rPr lang="en-US" sz="1800" i="1" dirty="0">
                <a:solidFill>
                  <a:srgbClr val="1A6EBD"/>
                </a:solidFill>
                <a:latin typeface="Cambria" pitchFamily="34" charset="0"/>
                <a:ea typeface="Cambria" pitchFamily="34" charset="-122"/>
                <a:cs typeface="Cambria" pitchFamily="34" charset="-120"/>
              </a:rPr>
              <a:t>Mitigation Strategies</a:t>
            </a:r>
            <a:endParaRPr lang="en-US" sz="1800" dirty="0"/>
          </a:p>
        </p:txBody>
      </p:sp>
      <p:sp>
        <p:nvSpPr>
          <p:cNvPr id="16" name="Text 14"/>
          <p:cNvSpPr/>
          <p:nvPr/>
        </p:nvSpPr>
        <p:spPr>
          <a:xfrm>
            <a:off x="3749040" y="3931920"/>
            <a:ext cx="5029200" cy="347472"/>
          </a:xfrm>
          <a:prstGeom prst="rect">
            <a:avLst/>
          </a:prstGeom>
          <a:noFill/>
          <a:ln/>
        </p:spPr>
        <p:txBody>
          <a:bodyPr wrap="square" rtlCol="0" anchor="ctr"/>
          <a:lstStyle/>
          <a:p>
            <a:pPr marL="0" indent="0">
              <a:buNone/>
            </a:pPr>
            <a:r>
              <a:rPr lang="en-US" sz="1200" dirty="0">
                <a:solidFill>
                  <a:srgbClr val="6B7C93"/>
                </a:solidFill>
                <a:latin typeface="Calibri" pitchFamily="34" charset="0"/>
                <a:ea typeface="Calibri" pitchFamily="34" charset="-122"/>
                <a:cs typeface="Calibri" pitchFamily="34" charset="-120"/>
              </a:rPr>
              <a:t> Presentation  ·  March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Table of Contents</a:t>
            </a:r>
            <a:endParaRPr lang="en-US" sz="2200" dirty="0"/>
          </a:p>
        </p:txBody>
      </p:sp>
      <p:sp>
        <p:nvSpPr>
          <p:cNvPr id="5" name="Shape 3"/>
          <p:cNvSpPr/>
          <p:nvPr/>
        </p:nvSpPr>
        <p:spPr>
          <a:xfrm>
            <a:off x="-4572"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4160520" cy="457200"/>
          </a:xfrm>
          <a:prstGeom prst="rect">
            <a:avLst/>
          </a:prstGeom>
          <a:solidFill>
            <a:srgbClr val="FFFFFF"/>
          </a:solidFill>
          <a:ln w="7620">
            <a:solidFill>
              <a:srgbClr val="C8D8E8"/>
            </a:solidFill>
            <a:prstDash val="solid"/>
          </a:ln>
        </p:spPr>
        <p:txBody>
          <a:bodyPr/>
          <a:lstStyle/>
          <a:p>
            <a:endParaRPr lang="en-IN"/>
          </a:p>
        </p:txBody>
      </p:sp>
      <p:sp>
        <p:nvSpPr>
          <p:cNvPr id="9" name="Shape 7"/>
          <p:cNvSpPr/>
          <p:nvPr/>
        </p:nvSpPr>
        <p:spPr>
          <a:xfrm>
            <a:off x="320040" y="804672"/>
            <a:ext cx="54864" cy="457200"/>
          </a:xfrm>
          <a:prstGeom prst="rect">
            <a:avLst/>
          </a:prstGeom>
          <a:solidFill>
            <a:srgbClr val="1A6EBD"/>
          </a:solidFill>
          <a:ln/>
        </p:spPr>
        <p:txBody>
          <a:bodyPr/>
          <a:lstStyle/>
          <a:p>
            <a:endParaRPr lang="en-IN"/>
          </a:p>
        </p:txBody>
      </p:sp>
      <p:sp>
        <p:nvSpPr>
          <p:cNvPr id="10" name="Text 8"/>
          <p:cNvSpPr/>
          <p:nvPr/>
        </p:nvSpPr>
        <p:spPr>
          <a:xfrm>
            <a:off x="448056" y="80467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01</a:t>
            </a:r>
            <a:endParaRPr lang="en-US" sz="1000" dirty="0"/>
          </a:p>
        </p:txBody>
      </p:sp>
      <p:sp>
        <p:nvSpPr>
          <p:cNvPr id="11" name="Text 9"/>
          <p:cNvSpPr/>
          <p:nvPr/>
        </p:nvSpPr>
        <p:spPr>
          <a:xfrm>
            <a:off x="960120" y="804672"/>
            <a:ext cx="3429000" cy="457200"/>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Introduction — What is Agentic AI?</a:t>
            </a:r>
            <a:endParaRPr lang="en-US" sz="1150" dirty="0"/>
          </a:p>
        </p:txBody>
      </p:sp>
      <p:sp>
        <p:nvSpPr>
          <p:cNvPr id="12" name="Shape 10"/>
          <p:cNvSpPr/>
          <p:nvPr/>
        </p:nvSpPr>
        <p:spPr>
          <a:xfrm>
            <a:off x="320040" y="1330452"/>
            <a:ext cx="4160520" cy="457200"/>
          </a:xfrm>
          <a:prstGeom prst="rect">
            <a:avLst/>
          </a:prstGeom>
          <a:solidFill>
            <a:srgbClr val="EEF3FA"/>
          </a:solidFill>
          <a:ln w="7620">
            <a:solidFill>
              <a:srgbClr val="C8D8E8"/>
            </a:solidFill>
            <a:prstDash val="solid"/>
          </a:ln>
        </p:spPr>
        <p:txBody>
          <a:bodyPr/>
          <a:lstStyle/>
          <a:p>
            <a:endParaRPr lang="en-IN"/>
          </a:p>
        </p:txBody>
      </p:sp>
      <p:sp>
        <p:nvSpPr>
          <p:cNvPr id="13" name="Shape 11"/>
          <p:cNvSpPr/>
          <p:nvPr/>
        </p:nvSpPr>
        <p:spPr>
          <a:xfrm>
            <a:off x="320040" y="1330452"/>
            <a:ext cx="54864" cy="457200"/>
          </a:xfrm>
          <a:prstGeom prst="rect">
            <a:avLst/>
          </a:prstGeom>
          <a:solidFill>
            <a:srgbClr val="1A6EBD"/>
          </a:solidFill>
          <a:ln/>
        </p:spPr>
        <p:txBody>
          <a:bodyPr/>
          <a:lstStyle/>
          <a:p>
            <a:endParaRPr lang="en-IN"/>
          </a:p>
        </p:txBody>
      </p:sp>
      <p:sp>
        <p:nvSpPr>
          <p:cNvPr id="14" name="Text 12"/>
          <p:cNvSpPr/>
          <p:nvPr/>
        </p:nvSpPr>
        <p:spPr>
          <a:xfrm>
            <a:off x="448056" y="133045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02</a:t>
            </a:r>
            <a:endParaRPr lang="en-US" sz="1000" dirty="0"/>
          </a:p>
        </p:txBody>
      </p:sp>
      <p:sp>
        <p:nvSpPr>
          <p:cNvPr id="15" name="Text 13"/>
          <p:cNvSpPr/>
          <p:nvPr/>
        </p:nvSpPr>
        <p:spPr>
          <a:xfrm>
            <a:off x="960120" y="1330452"/>
            <a:ext cx="3429000" cy="457200"/>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State of the Art (SOTA)</a:t>
            </a:r>
            <a:endParaRPr lang="en-US" sz="1150" dirty="0"/>
          </a:p>
        </p:txBody>
      </p:sp>
      <p:sp>
        <p:nvSpPr>
          <p:cNvPr id="16" name="Shape 14"/>
          <p:cNvSpPr/>
          <p:nvPr/>
        </p:nvSpPr>
        <p:spPr>
          <a:xfrm>
            <a:off x="320040" y="1856232"/>
            <a:ext cx="4160520" cy="457200"/>
          </a:xfrm>
          <a:prstGeom prst="rect">
            <a:avLst/>
          </a:prstGeom>
          <a:solidFill>
            <a:srgbClr val="FFFFFF"/>
          </a:solidFill>
          <a:ln w="7620">
            <a:solidFill>
              <a:srgbClr val="C8D8E8"/>
            </a:solidFill>
            <a:prstDash val="solid"/>
          </a:ln>
        </p:spPr>
        <p:txBody>
          <a:bodyPr/>
          <a:lstStyle/>
          <a:p>
            <a:endParaRPr lang="en-IN" dirty="0"/>
          </a:p>
        </p:txBody>
      </p:sp>
      <p:sp>
        <p:nvSpPr>
          <p:cNvPr id="17" name="Shape 15"/>
          <p:cNvSpPr/>
          <p:nvPr/>
        </p:nvSpPr>
        <p:spPr>
          <a:xfrm>
            <a:off x="320040" y="1856232"/>
            <a:ext cx="54864" cy="457200"/>
          </a:xfrm>
          <a:prstGeom prst="rect">
            <a:avLst/>
          </a:prstGeom>
          <a:solidFill>
            <a:srgbClr val="1A6EBD"/>
          </a:solidFill>
          <a:ln/>
        </p:spPr>
        <p:txBody>
          <a:bodyPr/>
          <a:lstStyle/>
          <a:p>
            <a:endParaRPr lang="en-IN"/>
          </a:p>
        </p:txBody>
      </p:sp>
      <p:sp>
        <p:nvSpPr>
          <p:cNvPr id="18" name="Text 16"/>
          <p:cNvSpPr/>
          <p:nvPr/>
        </p:nvSpPr>
        <p:spPr>
          <a:xfrm>
            <a:off x="448056" y="185623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03</a:t>
            </a:r>
            <a:endParaRPr lang="en-US" sz="1000" dirty="0"/>
          </a:p>
        </p:txBody>
      </p:sp>
      <p:sp>
        <p:nvSpPr>
          <p:cNvPr id="19" name="Text 17"/>
          <p:cNvSpPr/>
          <p:nvPr/>
        </p:nvSpPr>
        <p:spPr>
          <a:xfrm>
            <a:off x="960120" y="1856232"/>
            <a:ext cx="3429000" cy="457200"/>
          </a:xfrm>
          <a:prstGeom prst="rect">
            <a:avLst/>
          </a:prstGeom>
          <a:noFill/>
          <a:ln/>
        </p:spPr>
        <p:txBody>
          <a:bodyPr wrap="square" rtlCol="0" anchor="ctr"/>
          <a:lstStyle/>
          <a:p>
            <a:pPr marL="0" indent="0">
              <a:buNone/>
            </a:pPr>
            <a:endParaRPr lang="en-US" sz="1150" dirty="0"/>
          </a:p>
        </p:txBody>
      </p:sp>
      <p:sp>
        <p:nvSpPr>
          <p:cNvPr id="20" name="Shape 18"/>
          <p:cNvSpPr/>
          <p:nvPr/>
        </p:nvSpPr>
        <p:spPr>
          <a:xfrm>
            <a:off x="320040" y="2382012"/>
            <a:ext cx="4160520" cy="457200"/>
          </a:xfrm>
          <a:prstGeom prst="rect">
            <a:avLst/>
          </a:prstGeom>
          <a:solidFill>
            <a:srgbClr val="EEF3FA"/>
          </a:solidFill>
          <a:ln w="7620">
            <a:solidFill>
              <a:srgbClr val="C8D8E8"/>
            </a:solidFill>
            <a:prstDash val="solid"/>
          </a:ln>
        </p:spPr>
        <p:txBody>
          <a:bodyPr/>
          <a:lstStyle/>
          <a:p>
            <a:endParaRPr lang="en-IN" dirty="0"/>
          </a:p>
        </p:txBody>
      </p:sp>
      <p:sp>
        <p:nvSpPr>
          <p:cNvPr id="21" name="Shape 19"/>
          <p:cNvSpPr/>
          <p:nvPr/>
        </p:nvSpPr>
        <p:spPr>
          <a:xfrm>
            <a:off x="320040" y="2382012"/>
            <a:ext cx="54864" cy="457200"/>
          </a:xfrm>
          <a:prstGeom prst="rect">
            <a:avLst/>
          </a:prstGeom>
          <a:solidFill>
            <a:srgbClr val="1A6EBD"/>
          </a:solidFill>
          <a:ln/>
        </p:spPr>
        <p:txBody>
          <a:bodyPr/>
          <a:lstStyle/>
          <a:p>
            <a:endParaRPr lang="en-IN"/>
          </a:p>
        </p:txBody>
      </p:sp>
      <p:sp>
        <p:nvSpPr>
          <p:cNvPr id="22" name="Text 20"/>
          <p:cNvSpPr/>
          <p:nvPr/>
        </p:nvSpPr>
        <p:spPr>
          <a:xfrm>
            <a:off x="448056" y="238201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960120" y="2382012"/>
            <a:ext cx="3429000" cy="457200"/>
          </a:xfrm>
          <a:prstGeom prst="rect">
            <a:avLst/>
          </a:prstGeom>
          <a:noFill/>
          <a:ln/>
        </p:spPr>
        <p:txBody>
          <a:bodyPr wrap="square" rtlCol="0" anchor="ctr"/>
          <a:lstStyle/>
          <a:p>
            <a:pPr marL="0" indent="0">
              <a:buNone/>
            </a:pPr>
            <a:endParaRPr lang="en-US" sz="1150" dirty="0"/>
          </a:p>
        </p:txBody>
      </p:sp>
      <p:sp>
        <p:nvSpPr>
          <p:cNvPr id="24" name="Shape 22"/>
          <p:cNvSpPr/>
          <p:nvPr/>
        </p:nvSpPr>
        <p:spPr>
          <a:xfrm>
            <a:off x="320040" y="2907792"/>
            <a:ext cx="4160520" cy="457200"/>
          </a:xfrm>
          <a:prstGeom prst="rect">
            <a:avLst/>
          </a:prstGeom>
          <a:solidFill>
            <a:srgbClr val="FFFFFF"/>
          </a:solidFill>
          <a:ln w="7620">
            <a:solidFill>
              <a:srgbClr val="C8D8E8"/>
            </a:solidFill>
            <a:prstDash val="solid"/>
          </a:ln>
        </p:spPr>
        <p:txBody>
          <a:bodyPr/>
          <a:lstStyle/>
          <a:p>
            <a:endParaRPr lang="en-IN"/>
          </a:p>
        </p:txBody>
      </p:sp>
      <p:sp>
        <p:nvSpPr>
          <p:cNvPr id="25" name="Shape 23"/>
          <p:cNvSpPr/>
          <p:nvPr/>
        </p:nvSpPr>
        <p:spPr>
          <a:xfrm>
            <a:off x="320040" y="2907792"/>
            <a:ext cx="54864" cy="457200"/>
          </a:xfrm>
          <a:prstGeom prst="rect">
            <a:avLst/>
          </a:prstGeom>
          <a:solidFill>
            <a:srgbClr val="1A6EBD"/>
          </a:solidFill>
          <a:ln/>
        </p:spPr>
        <p:txBody>
          <a:bodyPr/>
          <a:lstStyle/>
          <a:p>
            <a:endParaRPr lang="en-IN"/>
          </a:p>
        </p:txBody>
      </p:sp>
      <p:sp>
        <p:nvSpPr>
          <p:cNvPr id="26" name="Text 24"/>
          <p:cNvSpPr/>
          <p:nvPr/>
        </p:nvSpPr>
        <p:spPr>
          <a:xfrm>
            <a:off x="448056" y="290779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05</a:t>
            </a:r>
            <a:endParaRPr lang="en-US" sz="1000" dirty="0"/>
          </a:p>
        </p:txBody>
      </p:sp>
      <p:sp>
        <p:nvSpPr>
          <p:cNvPr id="27" name="Text 25"/>
          <p:cNvSpPr/>
          <p:nvPr/>
        </p:nvSpPr>
        <p:spPr>
          <a:xfrm>
            <a:off x="960120" y="2907792"/>
            <a:ext cx="3429000" cy="457200"/>
          </a:xfrm>
          <a:prstGeom prst="rect">
            <a:avLst/>
          </a:prstGeom>
          <a:noFill/>
          <a:ln/>
        </p:spPr>
        <p:txBody>
          <a:bodyPr wrap="square" rtlCol="0" anchor="ctr"/>
          <a:lstStyle/>
          <a:p>
            <a:r>
              <a:rPr lang="en-US" sz="1150" dirty="0">
                <a:latin typeface="Calibri" pitchFamily="34" charset="0"/>
                <a:ea typeface="Calibri" pitchFamily="34" charset="-122"/>
                <a:cs typeface="Calibri" pitchFamily="34" charset="-120"/>
              </a:rPr>
              <a:t>Proposed Architecture — Overview</a:t>
            </a:r>
            <a:endParaRPr lang="en-US" sz="1150" dirty="0"/>
          </a:p>
        </p:txBody>
      </p:sp>
      <p:sp>
        <p:nvSpPr>
          <p:cNvPr id="28" name="Shape 26"/>
          <p:cNvSpPr/>
          <p:nvPr/>
        </p:nvSpPr>
        <p:spPr>
          <a:xfrm>
            <a:off x="320040" y="3433572"/>
            <a:ext cx="4160520" cy="457200"/>
          </a:xfrm>
          <a:prstGeom prst="rect">
            <a:avLst/>
          </a:prstGeom>
          <a:solidFill>
            <a:srgbClr val="EEF3FA"/>
          </a:solidFill>
          <a:ln w="7620">
            <a:solidFill>
              <a:srgbClr val="C8D8E8"/>
            </a:solidFill>
            <a:prstDash val="solid"/>
          </a:ln>
        </p:spPr>
        <p:txBody>
          <a:bodyPr/>
          <a:lstStyle/>
          <a:p>
            <a:endParaRPr lang="en-IN"/>
          </a:p>
        </p:txBody>
      </p:sp>
      <p:sp>
        <p:nvSpPr>
          <p:cNvPr id="29" name="Shape 27"/>
          <p:cNvSpPr/>
          <p:nvPr/>
        </p:nvSpPr>
        <p:spPr>
          <a:xfrm>
            <a:off x="320040" y="3433572"/>
            <a:ext cx="54864" cy="457200"/>
          </a:xfrm>
          <a:prstGeom prst="rect">
            <a:avLst/>
          </a:prstGeom>
          <a:solidFill>
            <a:srgbClr val="1A6EBD"/>
          </a:solidFill>
          <a:ln/>
        </p:spPr>
        <p:txBody>
          <a:bodyPr/>
          <a:lstStyle/>
          <a:p>
            <a:endParaRPr lang="en-IN"/>
          </a:p>
        </p:txBody>
      </p:sp>
      <p:sp>
        <p:nvSpPr>
          <p:cNvPr id="30" name="Text 28"/>
          <p:cNvSpPr/>
          <p:nvPr/>
        </p:nvSpPr>
        <p:spPr>
          <a:xfrm>
            <a:off x="448056" y="343357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06</a:t>
            </a:r>
            <a:endParaRPr lang="en-US" sz="1000" dirty="0"/>
          </a:p>
        </p:txBody>
      </p:sp>
      <p:sp>
        <p:nvSpPr>
          <p:cNvPr id="31" name="Text 29"/>
          <p:cNvSpPr/>
          <p:nvPr/>
        </p:nvSpPr>
        <p:spPr>
          <a:xfrm>
            <a:off x="960120" y="3433572"/>
            <a:ext cx="3429000" cy="457200"/>
          </a:xfrm>
          <a:prstGeom prst="rect">
            <a:avLst/>
          </a:prstGeom>
          <a:noFill/>
          <a:ln/>
        </p:spPr>
        <p:txBody>
          <a:bodyPr wrap="square" rtlCol="0" anchor="ctr"/>
          <a:lstStyle/>
          <a:p>
            <a:r>
              <a:rPr lang="en-US" sz="1150" dirty="0">
                <a:solidFill>
                  <a:srgbClr val="2E4057"/>
                </a:solidFill>
                <a:latin typeface="Calibri" pitchFamily="34" charset="0"/>
                <a:ea typeface="Calibri" pitchFamily="34" charset="-122"/>
                <a:cs typeface="Calibri" pitchFamily="34" charset="-120"/>
              </a:rPr>
              <a:t>Layer 1: Semantic Policy </a:t>
            </a:r>
            <a:r>
              <a:rPr lang="en-US" sz="1150" dirty="0">
                <a:latin typeface="Calibri" pitchFamily="34" charset="0"/>
                <a:ea typeface="Calibri" pitchFamily="34" charset="-122"/>
                <a:cs typeface="Calibri" pitchFamily="34" charset="-120"/>
              </a:rPr>
              <a:t>Enforcement</a:t>
            </a:r>
            <a:r>
              <a:rPr lang="en-US" sz="1150" dirty="0">
                <a:solidFill>
                  <a:srgbClr val="2E4057"/>
                </a:solidFill>
                <a:latin typeface="Calibri" pitchFamily="34" charset="0"/>
                <a:ea typeface="Calibri" pitchFamily="34" charset="-122"/>
                <a:cs typeface="Calibri" pitchFamily="34" charset="-120"/>
              </a:rPr>
              <a:t> (SPEL)</a:t>
            </a:r>
            <a:endParaRPr lang="en-US" sz="1150" dirty="0"/>
          </a:p>
        </p:txBody>
      </p:sp>
      <p:sp>
        <p:nvSpPr>
          <p:cNvPr id="32" name="Shape 30"/>
          <p:cNvSpPr/>
          <p:nvPr/>
        </p:nvSpPr>
        <p:spPr>
          <a:xfrm>
            <a:off x="320040" y="3959352"/>
            <a:ext cx="4160520" cy="457200"/>
          </a:xfrm>
          <a:prstGeom prst="rect">
            <a:avLst/>
          </a:prstGeom>
          <a:solidFill>
            <a:srgbClr val="FFFFFF"/>
          </a:solidFill>
          <a:ln w="7620">
            <a:solidFill>
              <a:srgbClr val="C8D8E8"/>
            </a:solidFill>
            <a:prstDash val="solid"/>
          </a:ln>
        </p:spPr>
        <p:txBody>
          <a:bodyPr/>
          <a:lstStyle/>
          <a:p>
            <a:endParaRPr lang="en-IN"/>
          </a:p>
        </p:txBody>
      </p:sp>
      <p:sp>
        <p:nvSpPr>
          <p:cNvPr id="33" name="Shape 31"/>
          <p:cNvSpPr/>
          <p:nvPr/>
        </p:nvSpPr>
        <p:spPr>
          <a:xfrm>
            <a:off x="320040" y="3959352"/>
            <a:ext cx="54864" cy="457200"/>
          </a:xfrm>
          <a:prstGeom prst="rect">
            <a:avLst/>
          </a:prstGeom>
          <a:solidFill>
            <a:srgbClr val="1A6EBD"/>
          </a:solidFill>
          <a:ln/>
        </p:spPr>
        <p:txBody>
          <a:bodyPr/>
          <a:lstStyle/>
          <a:p>
            <a:endParaRPr lang="en-IN"/>
          </a:p>
        </p:txBody>
      </p:sp>
      <p:sp>
        <p:nvSpPr>
          <p:cNvPr id="34" name="Text 32"/>
          <p:cNvSpPr/>
          <p:nvPr/>
        </p:nvSpPr>
        <p:spPr>
          <a:xfrm>
            <a:off x="448056" y="395935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07</a:t>
            </a:r>
            <a:endParaRPr lang="en-US" sz="1000" dirty="0"/>
          </a:p>
        </p:txBody>
      </p:sp>
      <p:sp>
        <p:nvSpPr>
          <p:cNvPr id="35" name="Text 33"/>
          <p:cNvSpPr/>
          <p:nvPr/>
        </p:nvSpPr>
        <p:spPr>
          <a:xfrm>
            <a:off x="960120" y="3959352"/>
            <a:ext cx="3429000" cy="457200"/>
          </a:xfrm>
          <a:prstGeom prst="rect">
            <a:avLst/>
          </a:prstGeom>
          <a:noFill/>
          <a:ln/>
        </p:spPr>
        <p:txBody>
          <a:bodyPr wrap="square" rtlCol="0" anchor="ctr"/>
          <a:lstStyle/>
          <a:p>
            <a:r>
              <a:rPr lang="en-US" sz="1150" dirty="0">
                <a:latin typeface="Calibri" pitchFamily="34" charset="0"/>
                <a:ea typeface="Calibri" pitchFamily="34" charset="-122"/>
                <a:cs typeface="Calibri" pitchFamily="34" charset="-120"/>
              </a:rPr>
              <a:t>Layer 2: Provenance-Aware Policy Enforcement (PAPE)</a:t>
            </a:r>
            <a:endParaRPr lang="en-US" sz="1150" dirty="0"/>
          </a:p>
        </p:txBody>
      </p:sp>
      <p:sp>
        <p:nvSpPr>
          <p:cNvPr id="36" name="Shape 34"/>
          <p:cNvSpPr/>
          <p:nvPr/>
        </p:nvSpPr>
        <p:spPr>
          <a:xfrm>
            <a:off x="320040" y="4485132"/>
            <a:ext cx="4160520" cy="457200"/>
          </a:xfrm>
          <a:prstGeom prst="rect">
            <a:avLst/>
          </a:prstGeom>
          <a:solidFill>
            <a:srgbClr val="EEF3FA"/>
          </a:solidFill>
          <a:ln w="7620">
            <a:solidFill>
              <a:srgbClr val="C8D8E8"/>
            </a:solidFill>
            <a:prstDash val="solid"/>
          </a:ln>
        </p:spPr>
        <p:txBody>
          <a:bodyPr/>
          <a:lstStyle/>
          <a:p>
            <a:endParaRPr lang="en-IN"/>
          </a:p>
        </p:txBody>
      </p:sp>
      <p:sp>
        <p:nvSpPr>
          <p:cNvPr id="37" name="Shape 35"/>
          <p:cNvSpPr/>
          <p:nvPr/>
        </p:nvSpPr>
        <p:spPr>
          <a:xfrm>
            <a:off x="320040" y="4485132"/>
            <a:ext cx="54864" cy="457200"/>
          </a:xfrm>
          <a:prstGeom prst="rect">
            <a:avLst/>
          </a:prstGeom>
          <a:solidFill>
            <a:srgbClr val="1A6EBD"/>
          </a:solidFill>
          <a:ln/>
        </p:spPr>
        <p:txBody>
          <a:bodyPr/>
          <a:lstStyle/>
          <a:p>
            <a:endParaRPr lang="en-IN"/>
          </a:p>
        </p:txBody>
      </p:sp>
      <p:sp>
        <p:nvSpPr>
          <p:cNvPr id="38" name="Text 36"/>
          <p:cNvSpPr/>
          <p:nvPr/>
        </p:nvSpPr>
        <p:spPr>
          <a:xfrm>
            <a:off x="448056" y="448513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08</a:t>
            </a:r>
            <a:endParaRPr lang="en-US" sz="1000" dirty="0"/>
          </a:p>
        </p:txBody>
      </p:sp>
      <p:sp>
        <p:nvSpPr>
          <p:cNvPr id="39" name="Text 37"/>
          <p:cNvSpPr/>
          <p:nvPr/>
        </p:nvSpPr>
        <p:spPr>
          <a:xfrm>
            <a:off x="960120" y="4485132"/>
            <a:ext cx="3429000" cy="457200"/>
          </a:xfrm>
          <a:prstGeom prst="rect">
            <a:avLst/>
          </a:prstGeom>
          <a:noFill/>
          <a:ln/>
        </p:spPr>
        <p:txBody>
          <a:bodyPr wrap="square" rtlCol="0" anchor="ctr"/>
          <a:lstStyle/>
          <a:p>
            <a:r>
              <a:rPr lang="en-US" sz="1150" dirty="0">
                <a:latin typeface="Calibri" pitchFamily="34" charset="0"/>
                <a:ea typeface="Calibri" pitchFamily="34" charset="-122"/>
                <a:cs typeface="Calibri" pitchFamily="34" charset="-120"/>
              </a:rPr>
              <a:t>Layer 3: Cross-Agent Consensus (CAC)</a:t>
            </a:r>
            <a:endParaRPr lang="en-US" sz="1150" dirty="0"/>
          </a:p>
        </p:txBody>
      </p:sp>
      <p:sp>
        <p:nvSpPr>
          <p:cNvPr id="40" name="Shape 38"/>
          <p:cNvSpPr/>
          <p:nvPr/>
        </p:nvSpPr>
        <p:spPr>
          <a:xfrm>
            <a:off x="4663440" y="804672"/>
            <a:ext cx="4160520" cy="457200"/>
          </a:xfrm>
          <a:prstGeom prst="rect">
            <a:avLst/>
          </a:prstGeom>
          <a:solidFill>
            <a:srgbClr val="FFFFFF"/>
          </a:solidFill>
          <a:ln w="7620">
            <a:solidFill>
              <a:srgbClr val="C8D8E8"/>
            </a:solidFill>
            <a:prstDash val="solid"/>
          </a:ln>
        </p:spPr>
        <p:txBody>
          <a:bodyPr/>
          <a:lstStyle/>
          <a:p>
            <a:endParaRPr lang="en-IN"/>
          </a:p>
        </p:txBody>
      </p:sp>
      <p:sp>
        <p:nvSpPr>
          <p:cNvPr id="41" name="Shape 39"/>
          <p:cNvSpPr/>
          <p:nvPr/>
        </p:nvSpPr>
        <p:spPr>
          <a:xfrm>
            <a:off x="4663440" y="804672"/>
            <a:ext cx="54864" cy="457200"/>
          </a:xfrm>
          <a:prstGeom prst="rect">
            <a:avLst/>
          </a:prstGeom>
          <a:solidFill>
            <a:srgbClr val="1A6EBD"/>
          </a:solidFill>
          <a:ln/>
        </p:spPr>
        <p:txBody>
          <a:bodyPr/>
          <a:lstStyle/>
          <a:p>
            <a:endParaRPr lang="en-IN"/>
          </a:p>
        </p:txBody>
      </p:sp>
      <p:sp>
        <p:nvSpPr>
          <p:cNvPr id="42" name="Text 40"/>
          <p:cNvSpPr/>
          <p:nvPr/>
        </p:nvSpPr>
        <p:spPr>
          <a:xfrm>
            <a:off x="4791456" y="80467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09</a:t>
            </a:r>
            <a:endParaRPr lang="en-US" sz="1000" dirty="0"/>
          </a:p>
        </p:txBody>
      </p:sp>
      <p:sp>
        <p:nvSpPr>
          <p:cNvPr id="43" name="Text 41"/>
          <p:cNvSpPr/>
          <p:nvPr/>
        </p:nvSpPr>
        <p:spPr>
          <a:xfrm>
            <a:off x="5303520" y="804672"/>
            <a:ext cx="3429000" cy="457200"/>
          </a:xfrm>
          <a:prstGeom prst="rect">
            <a:avLst/>
          </a:prstGeom>
          <a:noFill/>
          <a:ln/>
        </p:spPr>
        <p:txBody>
          <a:bodyPr wrap="square" rtlCol="0" anchor="ctr"/>
          <a:lstStyle/>
          <a:p>
            <a:r>
              <a:rPr lang="en-US" sz="1200" dirty="0">
                <a:latin typeface="Cambria" pitchFamily="34" charset="0"/>
                <a:ea typeface="Cambria" pitchFamily="34" charset="-122"/>
                <a:cs typeface="Cambria" pitchFamily="34" charset="-120"/>
              </a:rPr>
              <a:t>Weighted Hallucination Score</a:t>
            </a:r>
            <a:endParaRPr lang="en-US" sz="1150" dirty="0"/>
          </a:p>
        </p:txBody>
      </p:sp>
      <p:sp>
        <p:nvSpPr>
          <p:cNvPr id="44" name="Shape 42"/>
          <p:cNvSpPr/>
          <p:nvPr/>
        </p:nvSpPr>
        <p:spPr>
          <a:xfrm>
            <a:off x="4663440" y="1330452"/>
            <a:ext cx="4160520" cy="457200"/>
          </a:xfrm>
          <a:prstGeom prst="rect">
            <a:avLst/>
          </a:prstGeom>
          <a:solidFill>
            <a:srgbClr val="EEF3FA"/>
          </a:solidFill>
          <a:ln w="7620">
            <a:solidFill>
              <a:srgbClr val="C8D8E8"/>
            </a:solidFill>
            <a:prstDash val="solid"/>
          </a:ln>
        </p:spPr>
        <p:txBody>
          <a:bodyPr/>
          <a:lstStyle/>
          <a:p>
            <a:endParaRPr lang="en-IN"/>
          </a:p>
        </p:txBody>
      </p:sp>
      <p:sp>
        <p:nvSpPr>
          <p:cNvPr id="45" name="Shape 43"/>
          <p:cNvSpPr/>
          <p:nvPr/>
        </p:nvSpPr>
        <p:spPr>
          <a:xfrm>
            <a:off x="4663440" y="1330452"/>
            <a:ext cx="54864" cy="457200"/>
          </a:xfrm>
          <a:prstGeom prst="rect">
            <a:avLst/>
          </a:prstGeom>
          <a:solidFill>
            <a:srgbClr val="1A6EBD"/>
          </a:solidFill>
          <a:ln/>
        </p:spPr>
        <p:txBody>
          <a:bodyPr/>
          <a:lstStyle/>
          <a:p>
            <a:endParaRPr lang="en-IN"/>
          </a:p>
        </p:txBody>
      </p:sp>
      <p:sp>
        <p:nvSpPr>
          <p:cNvPr id="46" name="Text 44"/>
          <p:cNvSpPr/>
          <p:nvPr/>
        </p:nvSpPr>
        <p:spPr>
          <a:xfrm>
            <a:off x="4791456" y="133045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10</a:t>
            </a:r>
            <a:endParaRPr lang="en-US" sz="1000" dirty="0"/>
          </a:p>
        </p:txBody>
      </p:sp>
      <p:sp>
        <p:nvSpPr>
          <p:cNvPr id="47" name="Text 45"/>
          <p:cNvSpPr/>
          <p:nvPr/>
        </p:nvSpPr>
        <p:spPr>
          <a:xfrm>
            <a:off x="5303520" y="1330452"/>
            <a:ext cx="3429000" cy="457200"/>
          </a:xfrm>
          <a:prstGeom prst="rect">
            <a:avLst/>
          </a:prstGeom>
          <a:noFill/>
          <a:ln/>
        </p:spPr>
        <p:txBody>
          <a:bodyPr wrap="square" rtlCol="0" anchor="ctr"/>
          <a:lstStyle/>
          <a:p>
            <a:r>
              <a:rPr lang="en-US" sz="1200" dirty="0">
                <a:latin typeface="Cambria" pitchFamily="34" charset="0"/>
                <a:ea typeface="Cambria" pitchFamily="34" charset="-122"/>
                <a:cs typeface="Cambria" pitchFamily="34" charset="-120"/>
              </a:rPr>
              <a:t>Example - Weighted Hallucination Score</a:t>
            </a:r>
            <a:endParaRPr lang="en-US" sz="1150" dirty="0"/>
          </a:p>
        </p:txBody>
      </p:sp>
      <p:sp>
        <p:nvSpPr>
          <p:cNvPr id="48" name="Shape 46"/>
          <p:cNvSpPr/>
          <p:nvPr/>
        </p:nvSpPr>
        <p:spPr>
          <a:xfrm>
            <a:off x="4663440" y="1856232"/>
            <a:ext cx="4160520" cy="457200"/>
          </a:xfrm>
          <a:prstGeom prst="rect">
            <a:avLst/>
          </a:prstGeom>
          <a:solidFill>
            <a:srgbClr val="FFFFFF"/>
          </a:solidFill>
          <a:ln w="7620">
            <a:solidFill>
              <a:srgbClr val="C8D8E8"/>
            </a:solidFill>
            <a:prstDash val="solid"/>
          </a:ln>
        </p:spPr>
        <p:txBody>
          <a:bodyPr/>
          <a:lstStyle/>
          <a:p>
            <a:endParaRPr lang="en-IN"/>
          </a:p>
        </p:txBody>
      </p:sp>
      <p:sp>
        <p:nvSpPr>
          <p:cNvPr id="49" name="Shape 47"/>
          <p:cNvSpPr/>
          <p:nvPr/>
        </p:nvSpPr>
        <p:spPr>
          <a:xfrm>
            <a:off x="4663440" y="1856232"/>
            <a:ext cx="54864" cy="457200"/>
          </a:xfrm>
          <a:prstGeom prst="rect">
            <a:avLst/>
          </a:prstGeom>
          <a:solidFill>
            <a:srgbClr val="1A6EBD"/>
          </a:solidFill>
          <a:ln/>
        </p:spPr>
        <p:txBody>
          <a:bodyPr/>
          <a:lstStyle/>
          <a:p>
            <a:endParaRPr lang="en-IN"/>
          </a:p>
        </p:txBody>
      </p:sp>
      <p:sp>
        <p:nvSpPr>
          <p:cNvPr id="50" name="Text 48"/>
          <p:cNvSpPr/>
          <p:nvPr/>
        </p:nvSpPr>
        <p:spPr>
          <a:xfrm>
            <a:off x="4791456" y="185623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11</a:t>
            </a:r>
            <a:endParaRPr lang="en-US" sz="1000" dirty="0"/>
          </a:p>
        </p:txBody>
      </p:sp>
      <p:sp>
        <p:nvSpPr>
          <p:cNvPr id="51" name="Text 49"/>
          <p:cNvSpPr/>
          <p:nvPr/>
        </p:nvSpPr>
        <p:spPr>
          <a:xfrm>
            <a:off x="5303520" y="1856232"/>
            <a:ext cx="3429000" cy="457200"/>
          </a:xfrm>
          <a:prstGeom prst="rect">
            <a:avLst/>
          </a:prstGeom>
          <a:noFill/>
          <a:ln/>
        </p:spPr>
        <p:txBody>
          <a:bodyPr wrap="square" rtlCol="0" anchor="ctr"/>
          <a:lstStyle/>
          <a:p>
            <a:pPr marL="0" indent="0">
              <a:buNone/>
            </a:pPr>
            <a:r>
              <a:rPr lang="en-US" sz="1150" dirty="0">
                <a:latin typeface="Times New Roman" panose="02020603050405020304" pitchFamily="18" charset="0"/>
                <a:cs typeface="Times New Roman" panose="02020603050405020304" pitchFamily="18" charset="0"/>
              </a:rPr>
              <a:t>A2A shield</a:t>
            </a:r>
          </a:p>
        </p:txBody>
      </p:sp>
      <p:sp>
        <p:nvSpPr>
          <p:cNvPr id="52" name="Shape 50"/>
          <p:cNvSpPr/>
          <p:nvPr/>
        </p:nvSpPr>
        <p:spPr>
          <a:xfrm>
            <a:off x="4663440" y="2382012"/>
            <a:ext cx="4160520" cy="457200"/>
          </a:xfrm>
          <a:prstGeom prst="rect">
            <a:avLst/>
          </a:prstGeom>
          <a:solidFill>
            <a:srgbClr val="EEF3FA"/>
          </a:solidFill>
          <a:ln w="7620">
            <a:solidFill>
              <a:srgbClr val="C8D8E8"/>
            </a:solidFill>
            <a:prstDash val="solid"/>
          </a:ln>
        </p:spPr>
        <p:txBody>
          <a:bodyPr/>
          <a:lstStyle/>
          <a:p>
            <a:endParaRPr lang="en-IN"/>
          </a:p>
        </p:txBody>
      </p:sp>
      <p:sp>
        <p:nvSpPr>
          <p:cNvPr id="53" name="Shape 51"/>
          <p:cNvSpPr/>
          <p:nvPr/>
        </p:nvSpPr>
        <p:spPr>
          <a:xfrm>
            <a:off x="4663440" y="2382012"/>
            <a:ext cx="54864" cy="457200"/>
          </a:xfrm>
          <a:prstGeom prst="rect">
            <a:avLst/>
          </a:prstGeom>
          <a:solidFill>
            <a:srgbClr val="1A6EBD"/>
          </a:solidFill>
          <a:ln/>
        </p:spPr>
        <p:txBody>
          <a:bodyPr/>
          <a:lstStyle/>
          <a:p>
            <a:endParaRPr lang="en-IN"/>
          </a:p>
        </p:txBody>
      </p:sp>
      <p:sp>
        <p:nvSpPr>
          <p:cNvPr id="54" name="Text 52"/>
          <p:cNvSpPr/>
          <p:nvPr/>
        </p:nvSpPr>
        <p:spPr>
          <a:xfrm>
            <a:off x="4791456" y="238201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12</a:t>
            </a:r>
            <a:endParaRPr lang="en-US" sz="1000" dirty="0"/>
          </a:p>
        </p:txBody>
      </p:sp>
      <p:sp>
        <p:nvSpPr>
          <p:cNvPr id="55" name="Text 53"/>
          <p:cNvSpPr/>
          <p:nvPr/>
        </p:nvSpPr>
        <p:spPr>
          <a:xfrm>
            <a:off x="5303520" y="2382012"/>
            <a:ext cx="3429000" cy="457200"/>
          </a:xfrm>
          <a:prstGeom prst="rect">
            <a:avLst/>
          </a:prstGeom>
          <a:noFill/>
          <a:ln/>
        </p:spPr>
        <p:txBody>
          <a:bodyPr wrap="square" rtlCol="0" anchor="ctr"/>
          <a:lstStyle/>
          <a:p>
            <a:r>
              <a:rPr lang="en-US" sz="1150" dirty="0">
                <a:solidFill>
                  <a:srgbClr val="2E4057"/>
                </a:solidFill>
                <a:latin typeface="Calibri" pitchFamily="34" charset="0"/>
                <a:ea typeface="Calibri" pitchFamily="34" charset="-122"/>
                <a:cs typeface="Calibri" pitchFamily="34" charset="-120"/>
              </a:rPr>
              <a:t>Evaluation Metrics</a:t>
            </a:r>
            <a:endParaRPr lang="en-US" sz="1150" dirty="0"/>
          </a:p>
        </p:txBody>
      </p:sp>
      <p:sp>
        <p:nvSpPr>
          <p:cNvPr id="56" name="Shape 54"/>
          <p:cNvSpPr/>
          <p:nvPr/>
        </p:nvSpPr>
        <p:spPr>
          <a:xfrm>
            <a:off x="4663440" y="2907792"/>
            <a:ext cx="4160520" cy="457200"/>
          </a:xfrm>
          <a:prstGeom prst="rect">
            <a:avLst/>
          </a:prstGeom>
          <a:solidFill>
            <a:srgbClr val="FFFFFF"/>
          </a:solidFill>
          <a:ln w="7620">
            <a:solidFill>
              <a:srgbClr val="C8D8E8"/>
            </a:solidFill>
            <a:prstDash val="solid"/>
          </a:ln>
        </p:spPr>
        <p:txBody>
          <a:bodyPr/>
          <a:lstStyle/>
          <a:p>
            <a:endParaRPr lang="en-IN"/>
          </a:p>
        </p:txBody>
      </p:sp>
      <p:sp>
        <p:nvSpPr>
          <p:cNvPr id="57" name="Shape 55"/>
          <p:cNvSpPr/>
          <p:nvPr/>
        </p:nvSpPr>
        <p:spPr>
          <a:xfrm>
            <a:off x="4663440" y="2907792"/>
            <a:ext cx="54864" cy="457200"/>
          </a:xfrm>
          <a:prstGeom prst="rect">
            <a:avLst/>
          </a:prstGeom>
          <a:solidFill>
            <a:srgbClr val="1A6EBD"/>
          </a:solidFill>
          <a:ln/>
        </p:spPr>
        <p:txBody>
          <a:bodyPr/>
          <a:lstStyle/>
          <a:p>
            <a:endParaRPr lang="en-IN"/>
          </a:p>
        </p:txBody>
      </p:sp>
      <p:sp>
        <p:nvSpPr>
          <p:cNvPr id="58" name="Text 56"/>
          <p:cNvSpPr/>
          <p:nvPr/>
        </p:nvSpPr>
        <p:spPr>
          <a:xfrm>
            <a:off x="4791456" y="290779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13</a:t>
            </a:r>
            <a:endParaRPr lang="en-US" sz="1000" dirty="0"/>
          </a:p>
        </p:txBody>
      </p:sp>
      <p:sp>
        <p:nvSpPr>
          <p:cNvPr id="59" name="Text 57"/>
          <p:cNvSpPr/>
          <p:nvPr/>
        </p:nvSpPr>
        <p:spPr>
          <a:xfrm>
            <a:off x="5303520" y="2907792"/>
            <a:ext cx="3429000" cy="457200"/>
          </a:xfrm>
          <a:prstGeom prst="rect">
            <a:avLst/>
          </a:prstGeom>
          <a:noFill/>
          <a:ln/>
        </p:spPr>
        <p:txBody>
          <a:bodyPr wrap="square" rtlCol="0" anchor="ctr"/>
          <a:lstStyle/>
          <a:p>
            <a:r>
              <a:rPr lang="en-US" sz="1150" dirty="0">
                <a:solidFill>
                  <a:srgbClr val="2E4057"/>
                </a:solidFill>
                <a:latin typeface="Calibri" pitchFamily="34" charset="0"/>
                <a:ea typeface="Calibri" pitchFamily="34" charset="-122"/>
                <a:cs typeface="Calibri" pitchFamily="34" charset="-120"/>
              </a:rPr>
              <a:t>Proposed Architecture</a:t>
            </a:r>
            <a:endParaRPr lang="en-US" sz="1150" dirty="0"/>
          </a:p>
        </p:txBody>
      </p:sp>
      <p:sp>
        <p:nvSpPr>
          <p:cNvPr id="60" name="Shape 58"/>
          <p:cNvSpPr/>
          <p:nvPr/>
        </p:nvSpPr>
        <p:spPr>
          <a:xfrm>
            <a:off x="4663440" y="3433572"/>
            <a:ext cx="4160520" cy="457200"/>
          </a:xfrm>
          <a:prstGeom prst="rect">
            <a:avLst/>
          </a:prstGeom>
          <a:solidFill>
            <a:srgbClr val="EEF3FA"/>
          </a:solidFill>
          <a:ln w="7620">
            <a:solidFill>
              <a:srgbClr val="C8D8E8"/>
            </a:solidFill>
            <a:prstDash val="solid"/>
          </a:ln>
        </p:spPr>
        <p:txBody>
          <a:bodyPr/>
          <a:lstStyle/>
          <a:p>
            <a:endParaRPr lang="en-IN"/>
          </a:p>
        </p:txBody>
      </p:sp>
      <p:sp>
        <p:nvSpPr>
          <p:cNvPr id="61" name="Shape 59"/>
          <p:cNvSpPr/>
          <p:nvPr/>
        </p:nvSpPr>
        <p:spPr>
          <a:xfrm>
            <a:off x="4663440" y="3433572"/>
            <a:ext cx="54864" cy="457200"/>
          </a:xfrm>
          <a:prstGeom prst="rect">
            <a:avLst/>
          </a:prstGeom>
          <a:solidFill>
            <a:srgbClr val="1A6EBD"/>
          </a:solidFill>
          <a:ln/>
        </p:spPr>
        <p:txBody>
          <a:bodyPr/>
          <a:lstStyle/>
          <a:p>
            <a:endParaRPr lang="en-IN"/>
          </a:p>
        </p:txBody>
      </p:sp>
      <p:sp>
        <p:nvSpPr>
          <p:cNvPr id="62" name="Text 60"/>
          <p:cNvSpPr/>
          <p:nvPr/>
        </p:nvSpPr>
        <p:spPr>
          <a:xfrm>
            <a:off x="4791456" y="343357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14</a:t>
            </a:r>
            <a:endParaRPr lang="en-US" sz="1000" dirty="0"/>
          </a:p>
        </p:txBody>
      </p:sp>
      <p:sp>
        <p:nvSpPr>
          <p:cNvPr id="63" name="Text 61"/>
          <p:cNvSpPr/>
          <p:nvPr/>
        </p:nvSpPr>
        <p:spPr>
          <a:xfrm>
            <a:off x="5303520" y="3433572"/>
            <a:ext cx="3429000" cy="457200"/>
          </a:xfrm>
          <a:prstGeom prst="rect">
            <a:avLst/>
          </a:prstGeom>
          <a:noFill/>
          <a:ln/>
        </p:spPr>
        <p:txBody>
          <a:bodyPr wrap="square" rtlCol="0" anchor="ctr"/>
          <a:lstStyle/>
          <a:p>
            <a:pPr marL="0" indent="0">
              <a:buNone/>
            </a:pPr>
            <a:r>
              <a:rPr lang="en-US" sz="1150" dirty="0">
                <a:solidFill>
                  <a:srgbClr val="2E4057"/>
                </a:solidFill>
                <a:latin typeface="Calibri" pitchFamily="34" charset="0"/>
                <a:ea typeface="Calibri" pitchFamily="34" charset="-122"/>
                <a:cs typeface="Calibri" pitchFamily="34" charset="-120"/>
              </a:rPr>
              <a:t>Metrics</a:t>
            </a:r>
            <a:endParaRPr lang="en-US" sz="1150" dirty="0"/>
          </a:p>
        </p:txBody>
      </p:sp>
      <p:sp>
        <p:nvSpPr>
          <p:cNvPr id="64" name="Shape 62"/>
          <p:cNvSpPr/>
          <p:nvPr/>
        </p:nvSpPr>
        <p:spPr>
          <a:xfrm>
            <a:off x="4663440" y="3959352"/>
            <a:ext cx="4160520" cy="457200"/>
          </a:xfrm>
          <a:prstGeom prst="rect">
            <a:avLst/>
          </a:prstGeom>
          <a:solidFill>
            <a:srgbClr val="FFFFFF"/>
          </a:solidFill>
          <a:ln w="7620">
            <a:solidFill>
              <a:srgbClr val="C8D8E8"/>
            </a:solidFill>
            <a:prstDash val="solid"/>
          </a:ln>
        </p:spPr>
        <p:txBody>
          <a:bodyPr/>
          <a:lstStyle/>
          <a:p>
            <a:endParaRPr lang="en-IN"/>
          </a:p>
        </p:txBody>
      </p:sp>
      <p:sp>
        <p:nvSpPr>
          <p:cNvPr id="65" name="Shape 63"/>
          <p:cNvSpPr/>
          <p:nvPr/>
        </p:nvSpPr>
        <p:spPr>
          <a:xfrm>
            <a:off x="4663440" y="3959352"/>
            <a:ext cx="54864" cy="457200"/>
          </a:xfrm>
          <a:prstGeom prst="rect">
            <a:avLst/>
          </a:prstGeom>
          <a:solidFill>
            <a:srgbClr val="1A6EBD"/>
          </a:solidFill>
          <a:ln/>
        </p:spPr>
        <p:txBody>
          <a:bodyPr/>
          <a:lstStyle/>
          <a:p>
            <a:endParaRPr lang="en-IN"/>
          </a:p>
        </p:txBody>
      </p:sp>
      <p:sp>
        <p:nvSpPr>
          <p:cNvPr id="66" name="Text 64"/>
          <p:cNvSpPr/>
          <p:nvPr/>
        </p:nvSpPr>
        <p:spPr>
          <a:xfrm>
            <a:off x="4791456" y="3959352"/>
            <a:ext cx="475488" cy="457200"/>
          </a:xfrm>
          <a:prstGeom prst="rect">
            <a:avLst/>
          </a:prstGeom>
          <a:noFill/>
          <a:ln/>
        </p:spPr>
        <p:txBody>
          <a:bodyPr wrap="square" rtlCol="0" anchor="ctr"/>
          <a:lstStyle/>
          <a:p>
            <a:pPr marL="0" indent="0" algn="ctr">
              <a:buNone/>
            </a:pPr>
            <a:r>
              <a:rPr lang="en-US" sz="1000" b="1" dirty="0">
                <a:solidFill>
                  <a:srgbClr val="1A6EBD"/>
                </a:solidFill>
                <a:latin typeface="Calibri" pitchFamily="34" charset="0"/>
                <a:ea typeface="Calibri" pitchFamily="34" charset="-122"/>
                <a:cs typeface="Calibri" pitchFamily="34" charset="-120"/>
              </a:rPr>
              <a:t>15</a:t>
            </a:r>
            <a:endParaRPr lang="en-US" sz="1000" dirty="0"/>
          </a:p>
        </p:txBody>
      </p:sp>
      <p:sp>
        <p:nvSpPr>
          <p:cNvPr id="67" name="Text 65"/>
          <p:cNvSpPr/>
          <p:nvPr/>
        </p:nvSpPr>
        <p:spPr>
          <a:xfrm>
            <a:off x="5303520" y="3959352"/>
            <a:ext cx="3429000" cy="457200"/>
          </a:xfrm>
          <a:prstGeom prst="rect">
            <a:avLst/>
          </a:prstGeom>
          <a:noFill/>
          <a:ln/>
        </p:spPr>
        <p:txBody>
          <a:bodyPr wrap="square" rtlCol="0" anchor="ctr"/>
          <a:lstStyle/>
          <a:p>
            <a:pPr marL="0" indent="0">
              <a:buNone/>
            </a:pPr>
            <a:r>
              <a:rPr lang="en-US" sz="1150" dirty="0">
                <a:solidFill>
                  <a:srgbClr val="2E4057"/>
                </a:solidFill>
                <a:latin typeface="Calibri" pitchFamily="34" charset="0"/>
                <a:ea typeface="Calibri" pitchFamily="34" charset="-122"/>
                <a:cs typeface="Calibri" pitchFamily="34" charset="-120"/>
              </a:rPr>
              <a:t>References</a:t>
            </a:r>
            <a:endParaRPr lang="en-US" sz="1150" dirty="0"/>
          </a:p>
        </p:txBody>
      </p:sp>
      <p:sp>
        <p:nvSpPr>
          <p:cNvPr id="68" name="Text 25">
            <a:extLst>
              <a:ext uri="{FF2B5EF4-FFF2-40B4-BE49-F238E27FC236}">
                <a16:creationId xmlns:a16="http://schemas.microsoft.com/office/drawing/2014/main" id="{52E12AA7-0833-8F55-42B8-EB9ACDEC8A55}"/>
              </a:ext>
            </a:extLst>
          </p:cNvPr>
          <p:cNvSpPr/>
          <p:nvPr/>
        </p:nvSpPr>
        <p:spPr>
          <a:xfrm>
            <a:off x="996696" y="1842516"/>
            <a:ext cx="3429000" cy="457200"/>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Problem Statement</a:t>
            </a:r>
            <a:endParaRPr lang="en-US" sz="1150" dirty="0"/>
          </a:p>
        </p:txBody>
      </p:sp>
      <p:sp>
        <p:nvSpPr>
          <p:cNvPr id="69" name="Text 29">
            <a:extLst>
              <a:ext uri="{FF2B5EF4-FFF2-40B4-BE49-F238E27FC236}">
                <a16:creationId xmlns:a16="http://schemas.microsoft.com/office/drawing/2014/main" id="{107A0639-530F-2809-6DBD-29C8570AFABE}"/>
              </a:ext>
            </a:extLst>
          </p:cNvPr>
          <p:cNvSpPr/>
          <p:nvPr/>
        </p:nvSpPr>
        <p:spPr>
          <a:xfrm>
            <a:off x="996696" y="2394087"/>
            <a:ext cx="3429000" cy="457200"/>
          </a:xfrm>
          <a:prstGeom prst="rect">
            <a:avLst/>
          </a:prstGeom>
          <a:noFill/>
          <a:ln/>
        </p:spPr>
        <p:txBody>
          <a:bodyPr wrap="square" rtlCol="0" anchor="ctr"/>
          <a:lstStyle/>
          <a:p>
            <a:pPr marL="0" indent="0">
              <a:buNone/>
            </a:pPr>
            <a:r>
              <a:rPr lang="en-US" sz="1150" dirty="0">
                <a:latin typeface="Calibri" pitchFamily="34" charset="0"/>
                <a:ea typeface="Calibri" pitchFamily="34" charset="-122"/>
                <a:cs typeface="Calibri" pitchFamily="34" charset="-120"/>
              </a:rPr>
              <a:t>Existing Security Methods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01  Introduction — What is Agentic AI?</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1024128"/>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1024128"/>
          </a:xfrm>
          <a:prstGeom prst="rect">
            <a:avLst/>
          </a:prstGeom>
          <a:solidFill>
            <a:srgbClr val="1A6EBD"/>
          </a:solidFill>
          <a:ln w="12700">
            <a:solidFill>
              <a:srgbClr val="1A6EBD"/>
            </a:solidFill>
            <a:prstDash val="solid"/>
          </a:ln>
        </p:spPr>
        <p:txBody>
          <a:bodyPr/>
          <a:lstStyle/>
          <a:p>
            <a:endParaRPr lang="en-IN"/>
          </a:p>
        </p:txBody>
      </p:sp>
      <p:sp>
        <p:nvSpPr>
          <p:cNvPr id="10" name="Text 8"/>
          <p:cNvSpPr/>
          <p:nvPr/>
        </p:nvSpPr>
        <p:spPr>
          <a:xfrm>
            <a:off x="502920" y="850392"/>
            <a:ext cx="8211312" cy="932688"/>
          </a:xfrm>
          <a:prstGeom prst="rect">
            <a:avLst/>
          </a:prstGeom>
          <a:noFill/>
          <a:ln/>
        </p:spPr>
        <p:txBody>
          <a:bodyPr wrap="square" rtlCol="0" anchor="ctr"/>
          <a:lstStyle/>
          <a:p>
            <a:pPr marL="0" indent="0">
              <a:buNone/>
            </a:pPr>
            <a:r>
              <a:rPr lang="en-US" sz="1300" dirty="0">
                <a:solidFill>
                  <a:srgbClr val="2E4057"/>
                </a:solidFill>
                <a:latin typeface="Calibri" pitchFamily="34" charset="0"/>
                <a:ea typeface="Calibri" pitchFamily="34" charset="-122"/>
                <a:cs typeface="Calibri" pitchFamily="34" charset="-120"/>
              </a:rPr>
              <a:t>Agentic AI refers to AI systems capable of operating as autonomous agents — able to plan, decide, act, observe environmental feedback, and adapt to achieve goals without requiring direct human direction. Unlike reactive AI that only responds when prompted, Agentic AI proactively takes initiative. [Deng et al., 2024; Palo Alto Networks, 2025]</a:t>
            </a:r>
            <a:endParaRPr lang="en-US" sz="1300" dirty="0"/>
          </a:p>
        </p:txBody>
      </p:sp>
      <p:sp>
        <p:nvSpPr>
          <p:cNvPr id="11" name="Shape 9"/>
          <p:cNvSpPr/>
          <p:nvPr/>
        </p:nvSpPr>
        <p:spPr>
          <a:xfrm>
            <a:off x="320040" y="1938528"/>
            <a:ext cx="1627632" cy="26974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1938528"/>
            <a:ext cx="1627632" cy="73152"/>
          </a:xfrm>
          <a:prstGeom prst="rect">
            <a:avLst/>
          </a:prstGeom>
          <a:solidFill>
            <a:srgbClr val="1A6EBD"/>
          </a:solidFill>
          <a:ln/>
        </p:spPr>
        <p:txBody>
          <a:bodyPr/>
          <a:lstStyle/>
          <a:p>
            <a:endParaRPr lang="en-IN"/>
          </a:p>
        </p:txBody>
      </p:sp>
      <p:sp>
        <p:nvSpPr>
          <p:cNvPr id="13" name="Text 11"/>
          <p:cNvSpPr/>
          <p:nvPr/>
        </p:nvSpPr>
        <p:spPr>
          <a:xfrm>
            <a:off x="320040" y="2048256"/>
            <a:ext cx="1627632" cy="68580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4" name="Shape 12"/>
          <p:cNvSpPr/>
          <p:nvPr/>
        </p:nvSpPr>
        <p:spPr>
          <a:xfrm>
            <a:off x="502920" y="2761488"/>
            <a:ext cx="1261872" cy="36576"/>
          </a:xfrm>
          <a:prstGeom prst="rect">
            <a:avLst/>
          </a:prstGeom>
          <a:solidFill>
            <a:srgbClr val="D1DCE8"/>
          </a:solidFill>
          <a:ln/>
        </p:spPr>
        <p:txBody>
          <a:bodyPr/>
          <a:lstStyle/>
          <a:p>
            <a:endParaRPr lang="en-IN"/>
          </a:p>
        </p:txBody>
      </p:sp>
      <p:sp>
        <p:nvSpPr>
          <p:cNvPr id="15" name="Text 13"/>
          <p:cNvSpPr/>
          <p:nvPr/>
        </p:nvSpPr>
        <p:spPr>
          <a:xfrm>
            <a:off x="320040" y="2834640"/>
            <a:ext cx="1627632" cy="384048"/>
          </a:xfrm>
          <a:prstGeom prst="rect">
            <a:avLst/>
          </a:prstGeom>
          <a:noFill/>
          <a:ln/>
        </p:spPr>
        <p:txBody>
          <a:bodyPr wrap="square" rtlCol="0" anchor="ctr"/>
          <a:lstStyle/>
          <a:p>
            <a:pPr marL="0" indent="0" algn="ctr">
              <a:buNone/>
            </a:pPr>
            <a:r>
              <a:rPr lang="en-US" sz="1350" b="1" dirty="0">
                <a:solidFill>
                  <a:srgbClr val="0F4C8A"/>
                </a:solidFill>
                <a:latin typeface="Cambria" pitchFamily="34" charset="0"/>
                <a:ea typeface="Cambria" pitchFamily="34" charset="-122"/>
                <a:cs typeface="Cambria" pitchFamily="34" charset="-120"/>
              </a:rPr>
              <a:t>Plan</a:t>
            </a:r>
            <a:endParaRPr lang="en-US" sz="1350" dirty="0"/>
          </a:p>
        </p:txBody>
      </p:sp>
      <p:sp>
        <p:nvSpPr>
          <p:cNvPr id="16" name="Text 14"/>
          <p:cNvSpPr/>
          <p:nvPr/>
        </p:nvSpPr>
        <p:spPr>
          <a:xfrm>
            <a:off x="411480" y="3255264"/>
            <a:ext cx="1444752" cy="1280160"/>
          </a:xfrm>
          <a:prstGeom prst="rect">
            <a:avLst/>
          </a:prstGeom>
          <a:noFill/>
          <a:ln/>
        </p:spPr>
        <p:txBody>
          <a:bodyPr wrap="square" rtlCol="0" anchor="ctr"/>
          <a:lstStyle/>
          <a:p>
            <a:pPr marL="0" indent="0" algn="ctr">
              <a:buNone/>
            </a:pPr>
            <a:r>
              <a:rPr lang="en-US" sz="1050" dirty="0">
                <a:solidFill>
                  <a:srgbClr val="6B7C93"/>
                </a:solidFill>
                <a:latin typeface="Calibri" pitchFamily="34" charset="0"/>
                <a:ea typeface="Calibri" pitchFamily="34" charset="-122"/>
                <a:cs typeface="Calibri" pitchFamily="34" charset="-120"/>
              </a:rPr>
              <a:t>Formulates multi-step strategies toward a goal</a:t>
            </a:r>
            <a:endParaRPr lang="en-US" sz="1050" dirty="0"/>
          </a:p>
        </p:txBody>
      </p:sp>
      <p:sp>
        <p:nvSpPr>
          <p:cNvPr id="17" name="Shape 15"/>
          <p:cNvSpPr/>
          <p:nvPr/>
        </p:nvSpPr>
        <p:spPr>
          <a:xfrm>
            <a:off x="2057400" y="1938528"/>
            <a:ext cx="1627632" cy="26974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8" name="Shape 16"/>
          <p:cNvSpPr/>
          <p:nvPr/>
        </p:nvSpPr>
        <p:spPr>
          <a:xfrm>
            <a:off x="2057400" y="1938528"/>
            <a:ext cx="1627632" cy="73152"/>
          </a:xfrm>
          <a:prstGeom prst="rect">
            <a:avLst/>
          </a:prstGeom>
          <a:solidFill>
            <a:srgbClr val="1A6EBD"/>
          </a:solidFill>
          <a:ln/>
        </p:spPr>
        <p:txBody>
          <a:bodyPr/>
          <a:lstStyle/>
          <a:p>
            <a:endParaRPr lang="en-IN"/>
          </a:p>
        </p:txBody>
      </p:sp>
      <p:sp>
        <p:nvSpPr>
          <p:cNvPr id="19" name="Text 17"/>
          <p:cNvSpPr/>
          <p:nvPr/>
        </p:nvSpPr>
        <p:spPr>
          <a:xfrm>
            <a:off x="2057400" y="2048256"/>
            <a:ext cx="1627632" cy="68580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0" name="Shape 18"/>
          <p:cNvSpPr/>
          <p:nvPr/>
        </p:nvSpPr>
        <p:spPr>
          <a:xfrm>
            <a:off x="2240280" y="2761488"/>
            <a:ext cx="1261872" cy="36576"/>
          </a:xfrm>
          <a:prstGeom prst="rect">
            <a:avLst/>
          </a:prstGeom>
          <a:solidFill>
            <a:srgbClr val="D1DCE8"/>
          </a:solidFill>
          <a:ln/>
        </p:spPr>
        <p:txBody>
          <a:bodyPr/>
          <a:lstStyle/>
          <a:p>
            <a:endParaRPr lang="en-IN"/>
          </a:p>
        </p:txBody>
      </p:sp>
      <p:sp>
        <p:nvSpPr>
          <p:cNvPr id="21" name="Text 19"/>
          <p:cNvSpPr/>
          <p:nvPr/>
        </p:nvSpPr>
        <p:spPr>
          <a:xfrm>
            <a:off x="2057400" y="2834640"/>
            <a:ext cx="1627632" cy="384048"/>
          </a:xfrm>
          <a:prstGeom prst="rect">
            <a:avLst/>
          </a:prstGeom>
          <a:noFill/>
          <a:ln/>
        </p:spPr>
        <p:txBody>
          <a:bodyPr wrap="square" rtlCol="0" anchor="ctr"/>
          <a:lstStyle/>
          <a:p>
            <a:pPr marL="0" indent="0" algn="ctr">
              <a:buNone/>
            </a:pPr>
            <a:r>
              <a:rPr lang="en-US" sz="1350" b="1" dirty="0">
                <a:solidFill>
                  <a:srgbClr val="0F4C8A"/>
                </a:solidFill>
                <a:latin typeface="Cambria" pitchFamily="34" charset="0"/>
                <a:ea typeface="Cambria" pitchFamily="34" charset="-122"/>
                <a:cs typeface="Cambria" pitchFamily="34" charset="-120"/>
              </a:rPr>
              <a:t>Decide</a:t>
            </a:r>
            <a:endParaRPr lang="en-US" sz="1350" dirty="0"/>
          </a:p>
        </p:txBody>
      </p:sp>
      <p:sp>
        <p:nvSpPr>
          <p:cNvPr id="22" name="Text 20"/>
          <p:cNvSpPr/>
          <p:nvPr/>
        </p:nvSpPr>
        <p:spPr>
          <a:xfrm>
            <a:off x="2148840" y="3255264"/>
            <a:ext cx="1444752" cy="1280160"/>
          </a:xfrm>
          <a:prstGeom prst="rect">
            <a:avLst/>
          </a:prstGeom>
          <a:noFill/>
          <a:ln/>
        </p:spPr>
        <p:txBody>
          <a:bodyPr wrap="square" rtlCol="0" anchor="ctr"/>
          <a:lstStyle/>
          <a:p>
            <a:pPr marL="0" indent="0" algn="ctr">
              <a:buNone/>
            </a:pPr>
            <a:r>
              <a:rPr lang="en-US" sz="1050" dirty="0">
                <a:solidFill>
                  <a:srgbClr val="6B7C93"/>
                </a:solidFill>
                <a:latin typeface="Calibri" pitchFamily="34" charset="0"/>
                <a:ea typeface="Calibri" pitchFamily="34" charset="-122"/>
                <a:cs typeface="Calibri" pitchFamily="34" charset="-120"/>
              </a:rPr>
              <a:t>Selects optimal action from available choices</a:t>
            </a:r>
            <a:endParaRPr lang="en-US" sz="1050" dirty="0"/>
          </a:p>
        </p:txBody>
      </p:sp>
      <p:sp>
        <p:nvSpPr>
          <p:cNvPr id="23" name="Shape 21"/>
          <p:cNvSpPr/>
          <p:nvPr/>
        </p:nvSpPr>
        <p:spPr>
          <a:xfrm>
            <a:off x="3794760" y="1938528"/>
            <a:ext cx="1627632" cy="26974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4" name="Shape 22"/>
          <p:cNvSpPr/>
          <p:nvPr/>
        </p:nvSpPr>
        <p:spPr>
          <a:xfrm>
            <a:off x="3794760" y="1938528"/>
            <a:ext cx="1627632" cy="73152"/>
          </a:xfrm>
          <a:prstGeom prst="rect">
            <a:avLst/>
          </a:prstGeom>
          <a:solidFill>
            <a:srgbClr val="1A6EBD"/>
          </a:solidFill>
          <a:ln/>
        </p:spPr>
        <p:txBody>
          <a:bodyPr/>
          <a:lstStyle/>
          <a:p>
            <a:endParaRPr lang="en-IN"/>
          </a:p>
        </p:txBody>
      </p:sp>
      <p:sp>
        <p:nvSpPr>
          <p:cNvPr id="25" name="Text 23"/>
          <p:cNvSpPr/>
          <p:nvPr/>
        </p:nvSpPr>
        <p:spPr>
          <a:xfrm>
            <a:off x="3794760" y="2048256"/>
            <a:ext cx="1627632" cy="68580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6" name="Shape 24"/>
          <p:cNvSpPr/>
          <p:nvPr/>
        </p:nvSpPr>
        <p:spPr>
          <a:xfrm>
            <a:off x="3977640" y="2761488"/>
            <a:ext cx="1261872" cy="36576"/>
          </a:xfrm>
          <a:prstGeom prst="rect">
            <a:avLst/>
          </a:prstGeom>
          <a:solidFill>
            <a:srgbClr val="D1DCE8"/>
          </a:solidFill>
          <a:ln/>
        </p:spPr>
        <p:txBody>
          <a:bodyPr/>
          <a:lstStyle/>
          <a:p>
            <a:endParaRPr lang="en-IN"/>
          </a:p>
        </p:txBody>
      </p:sp>
      <p:sp>
        <p:nvSpPr>
          <p:cNvPr id="27" name="Text 25"/>
          <p:cNvSpPr/>
          <p:nvPr/>
        </p:nvSpPr>
        <p:spPr>
          <a:xfrm>
            <a:off x="3794760" y="2834640"/>
            <a:ext cx="1627632" cy="384048"/>
          </a:xfrm>
          <a:prstGeom prst="rect">
            <a:avLst/>
          </a:prstGeom>
          <a:noFill/>
          <a:ln/>
        </p:spPr>
        <p:txBody>
          <a:bodyPr wrap="square" rtlCol="0" anchor="ctr"/>
          <a:lstStyle/>
          <a:p>
            <a:pPr marL="0" indent="0" algn="ctr">
              <a:buNone/>
            </a:pPr>
            <a:r>
              <a:rPr lang="en-US" sz="1350" b="1" dirty="0">
                <a:solidFill>
                  <a:srgbClr val="0F4C8A"/>
                </a:solidFill>
                <a:latin typeface="Cambria" pitchFamily="34" charset="0"/>
                <a:ea typeface="Cambria" pitchFamily="34" charset="-122"/>
                <a:cs typeface="Cambria" pitchFamily="34" charset="-120"/>
              </a:rPr>
              <a:t>Act</a:t>
            </a:r>
            <a:endParaRPr lang="en-US" sz="1350" dirty="0"/>
          </a:p>
        </p:txBody>
      </p:sp>
      <p:sp>
        <p:nvSpPr>
          <p:cNvPr id="28" name="Text 26"/>
          <p:cNvSpPr/>
          <p:nvPr/>
        </p:nvSpPr>
        <p:spPr>
          <a:xfrm>
            <a:off x="3886200" y="3255264"/>
            <a:ext cx="1444752" cy="1280160"/>
          </a:xfrm>
          <a:prstGeom prst="rect">
            <a:avLst/>
          </a:prstGeom>
          <a:noFill/>
          <a:ln/>
        </p:spPr>
        <p:txBody>
          <a:bodyPr wrap="square" rtlCol="0" anchor="ctr"/>
          <a:lstStyle/>
          <a:p>
            <a:pPr marL="0" indent="0" algn="ctr">
              <a:buNone/>
            </a:pPr>
            <a:r>
              <a:rPr lang="en-US" sz="1050" dirty="0">
                <a:solidFill>
                  <a:srgbClr val="6B7C93"/>
                </a:solidFill>
                <a:latin typeface="Calibri" pitchFamily="34" charset="0"/>
                <a:ea typeface="Calibri" pitchFamily="34" charset="-122"/>
                <a:cs typeface="Calibri" pitchFamily="34" charset="-120"/>
              </a:rPr>
              <a:t>Executes actions via tools, APIs, or code</a:t>
            </a:r>
            <a:endParaRPr lang="en-US" sz="1050" dirty="0"/>
          </a:p>
        </p:txBody>
      </p:sp>
      <p:sp>
        <p:nvSpPr>
          <p:cNvPr id="29" name="Shape 27"/>
          <p:cNvSpPr/>
          <p:nvPr/>
        </p:nvSpPr>
        <p:spPr>
          <a:xfrm>
            <a:off x="5532120" y="1938528"/>
            <a:ext cx="1627632" cy="26974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0" name="Shape 28"/>
          <p:cNvSpPr/>
          <p:nvPr/>
        </p:nvSpPr>
        <p:spPr>
          <a:xfrm>
            <a:off x="5532120" y="1938528"/>
            <a:ext cx="1627632" cy="73152"/>
          </a:xfrm>
          <a:prstGeom prst="rect">
            <a:avLst/>
          </a:prstGeom>
          <a:solidFill>
            <a:srgbClr val="1A6EBD"/>
          </a:solidFill>
          <a:ln/>
        </p:spPr>
        <p:txBody>
          <a:bodyPr/>
          <a:lstStyle/>
          <a:p>
            <a:endParaRPr lang="en-IN"/>
          </a:p>
        </p:txBody>
      </p:sp>
      <p:sp>
        <p:nvSpPr>
          <p:cNvPr id="31" name="Text 29"/>
          <p:cNvSpPr/>
          <p:nvPr/>
        </p:nvSpPr>
        <p:spPr>
          <a:xfrm>
            <a:off x="5532120" y="2048256"/>
            <a:ext cx="1627632" cy="68580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32" name="Shape 30"/>
          <p:cNvSpPr/>
          <p:nvPr/>
        </p:nvSpPr>
        <p:spPr>
          <a:xfrm>
            <a:off x="5715000" y="2761488"/>
            <a:ext cx="1261872" cy="36576"/>
          </a:xfrm>
          <a:prstGeom prst="rect">
            <a:avLst/>
          </a:prstGeom>
          <a:solidFill>
            <a:srgbClr val="D1DCE8"/>
          </a:solidFill>
          <a:ln/>
        </p:spPr>
        <p:txBody>
          <a:bodyPr/>
          <a:lstStyle/>
          <a:p>
            <a:endParaRPr lang="en-IN"/>
          </a:p>
        </p:txBody>
      </p:sp>
      <p:sp>
        <p:nvSpPr>
          <p:cNvPr id="33" name="Text 31"/>
          <p:cNvSpPr/>
          <p:nvPr/>
        </p:nvSpPr>
        <p:spPr>
          <a:xfrm>
            <a:off x="5532120" y="2834640"/>
            <a:ext cx="1627632" cy="384048"/>
          </a:xfrm>
          <a:prstGeom prst="rect">
            <a:avLst/>
          </a:prstGeom>
          <a:noFill/>
          <a:ln/>
        </p:spPr>
        <p:txBody>
          <a:bodyPr wrap="square" rtlCol="0" anchor="ctr"/>
          <a:lstStyle/>
          <a:p>
            <a:pPr marL="0" indent="0" algn="ctr">
              <a:buNone/>
            </a:pPr>
            <a:r>
              <a:rPr lang="en-US" sz="1350" b="1" dirty="0">
                <a:solidFill>
                  <a:srgbClr val="0F4C8A"/>
                </a:solidFill>
                <a:latin typeface="Cambria" pitchFamily="34" charset="0"/>
                <a:ea typeface="Cambria" pitchFamily="34" charset="-122"/>
                <a:cs typeface="Cambria" pitchFamily="34" charset="-120"/>
              </a:rPr>
              <a:t>Observe</a:t>
            </a:r>
            <a:endParaRPr lang="en-US" sz="1350" dirty="0"/>
          </a:p>
        </p:txBody>
      </p:sp>
      <p:sp>
        <p:nvSpPr>
          <p:cNvPr id="34" name="Text 32"/>
          <p:cNvSpPr/>
          <p:nvPr/>
        </p:nvSpPr>
        <p:spPr>
          <a:xfrm>
            <a:off x="5623560" y="3255264"/>
            <a:ext cx="1444752" cy="1280160"/>
          </a:xfrm>
          <a:prstGeom prst="rect">
            <a:avLst/>
          </a:prstGeom>
          <a:noFill/>
          <a:ln/>
        </p:spPr>
        <p:txBody>
          <a:bodyPr wrap="square" rtlCol="0" anchor="ctr"/>
          <a:lstStyle/>
          <a:p>
            <a:pPr marL="0" indent="0" algn="ctr">
              <a:buNone/>
            </a:pPr>
            <a:r>
              <a:rPr lang="en-US" sz="1050" dirty="0">
                <a:solidFill>
                  <a:srgbClr val="6B7C93"/>
                </a:solidFill>
                <a:latin typeface="Calibri" pitchFamily="34" charset="0"/>
                <a:ea typeface="Calibri" pitchFamily="34" charset="-122"/>
                <a:cs typeface="Calibri" pitchFamily="34" charset="-120"/>
              </a:rPr>
              <a:t>Monitors outcomes and environment state</a:t>
            </a:r>
            <a:endParaRPr lang="en-US" sz="1050" dirty="0"/>
          </a:p>
        </p:txBody>
      </p:sp>
      <p:sp>
        <p:nvSpPr>
          <p:cNvPr id="35" name="Shape 33"/>
          <p:cNvSpPr/>
          <p:nvPr/>
        </p:nvSpPr>
        <p:spPr>
          <a:xfrm>
            <a:off x="7269480" y="1938528"/>
            <a:ext cx="1627632" cy="26974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6" name="Shape 34"/>
          <p:cNvSpPr/>
          <p:nvPr/>
        </p:nvSpPr>
        <p:spPr>
          <a:xfrm>
            <a:off x="7269480" y="1938528"/>
            <a:ext cx="1627632" cy="73152"/>
          </a:xfrm>
          <a:prstGeom prst="rect">
            <a:avLst/>
          </a:prstGeom>
          <a:solidFill>
            <a:srgbClr val="1A6EBD"/>
          </a:solidFill>
          <a:ln/>
        </p:spPr>
        <p:txBody>
          <a:bodyPr/>
          <a:lstStyle/>
          <a:p>
            <a:endParaRPr lang="en-IN"/>
          </a:p>
        </p:txBody>
      </p:sp>
      <p:sp>
        <p:nvSpPr>
          <p:cNvPr id="37" name="Text 35"/>
          <p:cNvSpPr/>
          <p:nvPr/>
        </p:nvSpPr>
        <p:spPr>
          <a:xfrm>
            <a:off x="7269480" y="2048256"/>
            <a:ext cx="1627632" cy="68580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38" name="Shape 36"/>
          <p:cNvSpPr/>
          <p:nvPr/>
        </p:nvSpPr>
        <p:spPr>
          <a:xfrm>
            <a:off x="7452360" y="2761488"/>
            <a:ext cx="1261872" cy="36576"/>
          </a:xfrm>
          <a:prstGeom prst="rect">
            <a:avLst/>
          </a:prstGeom>
          <a:solidFill>
            <a:srgbClr val="D1DCE8"/>
          </a:solidFill>
          <a:ln/>
        </p:spPr>
        <p:txBody>
          <a:bodyPr/>
          <a:lstStyle/>
          <a:p>
            <a:endParaRPr lang="en-IN"/>
          </a:p>
        </p:txBody>
      </p:sp>
      <p:sp>
        <p:nvSpPr>
          <p:cNvPr id="39" name="Text 37"/>
          <p:cNvSpPr/>
          <p:nvPr/>
        </p:nvSpPr>
        <p:spPr>
          <a:xfrm>
            <a:off x="7269480" y="2834640"/>
            <a:ext cx="1627632" cy="384048"/>
          </a:xfrm>
          <a:prstGeom prst="rect">
            <a:avLst/>
          </a:prstGeom>
          <a:noFill/>
          <a:ln/>
        </p:spPr>
        <p:txBody>
          <a:bodyPr wrap="square" rtlCol="0" anchor="ctr"/>
          <a:lstStyle/>
          <a:p>
            <a:pPr marL="0" indent="0" algn="ctr">
              <a:buNone/>
            </a:pPr>
            <a:r>
              <a:rPr lang="en-US" sz="1350" b="1" dirty="0">
                <a:solidFill>
                  <a:srgbClr val="0F4C8A"/>
                </a:solidFill>
                <a:latin typeface="Cambria" pitchFamily="34" charset="0"/>
                <a:ea typeface="Cambria" pitchFamily="34" charset="-122"/>
                <a:cs typeface="Cambria" pitchFamily="34" charset="-120"/>
              </a:rPr>
              <a:t>Adapt</a:t>
            </a:r>
            <a:endParaRPr lang="en-US" sz="1350" dirty="0"/>
          </a:p>
        </p:txBody>
      </p:sp>
      <p:sp>
        <p:nvSpPr>
          <p:cNvPr id="40" name="Text 38"/>
          <p:cNvSpPr/>
          <p:nvPr/>
        </p:nvSpPr>
        <p:spPr>
          <a:xfrm>
            <a:off x="7360920" y="3255264"/>
            <a:ext cx="1444752" cy="1280160"/>
          </a:xfrm>
          <a:prstGeom prst="rect">
            <a:avLst/>
          </a:prstGeom>
          <a:noFill/>
          <a:ln/>
        </p:spPr>
        <p:txBody>
          <a:bodyPr wrap="square" rtlCol="0" anchor="ctr"/>
          <a:lstStyle/>
          <a:p>
            <a:pPr marL="0" indent="0" algn="ctr">
              <a:buNone/>
            </a:pPr>
            <a:r>
              <a:rPr lang="en-US" sz="1050" dirty="0">
                <a:solidFill>
                  <a:srgbClr val="6B7C93"/>
                </a:solidFill>
                <a:latin typeface="Calibri" pitchFamily="34" charset="0"/>
                <a:ea typeface="Calibri" pitchFamily="34" charset="-122"/>
                <a:cs typeface="Calibri" pitchFamily="34" charset="-120"/>
              </a:rPr>
              <a:t>Revises behaviour from feedback</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02  State of the Art (SOTA)</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77724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777240"/>
          </a:xfrm>
          <a:prstGeom prst="rect">
            <a:avLst/>
          </a:prstGeom>
          <a:solidFill>
            <a:srgbClr val="1A6EBD"/>
          </a:solidFill>
          <a:ln w="12700">
            <a:solidFill>
              <a:srgbClr val="1A6EBD"/>
            </a:solidFill>
            <a:prstDash val="solid"/>
          </a:ln>
        </p:spPr>
        <p:txBody>
          <a:bodyPr/>
          <a:lstStyle/>
          <a:p>
            <a:endParaRPr lang="en-IN"/>
          </a:p>
        </p:txBody>
      </p:sp>
      <p:sp>
        <p:nvSpPr>
          <p:cNvPr id="10" name="Text 8"/>
          <p:cNvSpPr/>
          <p:nvPr/>
        </p:nvSpPr>
        <p:spPr>
          <a:xfrm>
            <a:off x="502920" y="850392"/>
            <a:ext cx="8211312" cy="713232"/>
          </a:xfrm>
          <a:prstGeom prst="rect">
            <a:avLst/>
          </a:prstGeom>
          <a:noFill/>
          <a:ln/>
        </p:spPr>
        <p:txBody>
          <a:bodyPr wrap="square" rtlCol="0" anchor="ctr"/>
          <a:lstStyle/>
          <a:p>
            <a:pPr marL="0" indent="0">
              <a:buNone/>
            </a:pPr>
            <a:r>
              <a:rPr lang="en-US" sz="1250" dirty="0">
                <a:solidFill>
                  <a:srgbClr val="2E4057"/>
                </a:solidFill>
                <a:latin typeface="Calibri" pitchFamily="34" charset="0"/>
                <a:ea typeface="Calibri" pitchFamily="34" charset="-122"/>
                <a:cs typeface="Calibri" pitchFamily="34" charset="-120"/>
              </a:rPr>
              <a:t>Connecting LLMs to tools, memories, and external environments creates multi-surface attack vectors. Most existing defenses remain static  guardrails and periodic red-teaming with limited real-time semantic integration. Attack success rates against state-of-the-art defenses exceed 85% when adaptive strategies are employed. [arXiv:2601.17548, 2025]</a:t>
            </a:r>
            <a:endParaRPr lang="en-US" sz="1250" dirty="0"/>
          </a:p>
        </p:txBody>
      </p:sp>
      <p:sp>
        <p:nvSpPr>
          <p:cNvPr id="11" name="Shape 9"/>
          <p:cNvSpPr/>
          <p:nvPr/>
        </p:nvSpPr>
        <p:spPr>
          <a:xfrm>
            <a:off x="320040" y="1751428"/>
            <a:ext cx="2761488" cy="309067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1737360"/>
            <a:ext cx="64008" cy="3090672"/>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484632" y="1773936"/>
            <a:ext cx="2514600" cy="457200"/>
          </a:xfrm>
          <a:prstGeom prst="rect">
            <a:avLst/>
          </a:prstGeom>
          <a:noFill/>
          <a:ln/>
        </p:spPr>
        <p:txBody>
          <a:bodyPr wrap="square" rtlCol="0" anchor="ctr"/>
          <a:lstStyle/>
          <a:p>
            <a:pPr marL="0" indent="0">
              <a:buNone/>
            </a:pPr>
            <a:r>
              <a:rPr lang="en-US" sz="1350" b="1" dirty="0">
                <a:solidFill>
                  <a:srgbClr val="B91C1C"/>
                </a:solidFill>
                <a:latin typeface="Cambria" pitchFamily="34" charset="0"/>
                <a:ea typeface="Cambria" pitchFamily="34" charset="-122"/>
                <a:cs typeface="Cambria" pitchFamily="34" charset="-120"/>
              </a:rPr>
              <a:t>Emerging Risks</a:t>
            </a:r>
            <a:endParaRPr lang="en-US" sz="1350" dirty="0"/>
          </a:p>
        </p:txBody>
      </p:sp>
      <p:sp>
        <p:nvSpPr>
          <p:cNvPr id="14" name="Shape 12"/>
          <p:cNvSpPr/>
          <p:nvPr/>
        </p:nvSpPr>
        <p:spPr>
          <a:xfrm>
            <a:off x="484632" y="2231136"/>
            <a:ext cx="2514600" cy="36576"/>
          </a:xfrm>
          <a:prstGeom prst="rect">
            <a:avLst/>
          </a:prstGeom>
          <a:solidFill>
            <a:srgbClr val="D1DCE8"/>
          </a:solidFill>
          <a:ln/>
        </p:spPr>
        <p:txBody>
          <a:bodyPr/>
          <a:lstStyle/>
          <a:p>
            <a:endParaRPr lang="en-IN"/>
          </a:p>
        </p:txBody>
      </p:sp>
      <p:sp>
        <p:nvSpPr>
          <p:cNvPr id="15" name="Text 13"/>
          <p:cNvSpPr/>
          <p:nvPr/>
        </p:nvSpPr>
        <p:spPr>
          <a:xfrm>
            <a:off x="484632" y="2304288"/>
            <a:ext cx="2514600" cy="2468880"/>
          </a:xfrm>
          <a:prstGeom prst="rect">
            <a:avLst/>
          </a:prstGeom>
          <a:noFill/>
          <a:ln/>
        </p:spPr>
        <p:txBody>
          <a:bodyPr wrap="square" rtlCol="0" anchor="t"/>
          <a:lstStyle/>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Prompt &amp; memory poisoning attacks</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Tool misuse &amp; privilege escalation</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Multi-step reasoning errors</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Hallucinations </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Cross-agent context injection</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Plan-of-Thought (PoT) backdoors [Zhang et al., 2025]</a:t>
            </a:r>
            <a:endParaRPr lang="en-US" sz="1100" dirty="0"/>
          </a:p>
        </p:txBody>
      </p:sp>
      <p:sp>
        <p:nvSpPr>
          <p:cNvPr id="16" name="Shape 14"/>
          <p:cNvSpPr/>
          <p:nvPr/>
        </p:nvSpPr>
        <p:spPr>
          <a:xfrm>
            <a:off x="3227832" y="1744394"/>
            <a:ext cx="2761488" cy="309067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7" name="Shape 15"/>
          <p:cNvSpPr/>
          <p:nvPr/>
        </p:nvSpPr>
        <p:spPr>
          <a:xfrm>
            <a:off x="3227832" y="1737360"/>
            <a:ext cx="64008" cy="3090672"/>
          </a:xfrm>
          <a:prstGeom prst="rect">
            <a:avLst/>
          </a:prstGeom>
          <a:solidFill>
            <a:srgbClr val="1A6EBD"/>
          </a:solidFill>
          <a:ln w="12700">
            <a:solidFill>
              <a:srgbClr val="1A6EBD"/>
            </a:solidFill>
            <a:prstDash val="solid"/>
          </a:ln>
        </p:spPr>
        <p:txBody>
          <a:bodyPr/>
          <a:lstStyle/>
          <a:p>
            <a:endParaRPr lang="en-IN"/>
          </a:p>
        </p:txBody>
      </p:sp>
      <p:sp>
        <p:nvSpPr>
          <p:cNvPr id="18" name="Text 16"/>
          <p:cNvSpPr/>
          <p:nvPr/>
        </p:nvSpPr>
        <p:spPr>
          <a:xfrm>
            <a:off x="3392424" y="1773936"/>
            <a:ext cx="2514600" cy="457200"/>
          </a:xfrm>
          <a:prstGeom prst="rect">
            <a:avLst/>
          </a:prstGeom>
          <a:noFill/>
          <a:ln/>
        </p:spPr>
        <p:txBody>
          <a:bodyPr wrap="square" rtlCol="0" anchor="ctr"/>
          <a:lstStyle/>
          <a:p>
            <a:pPr marL="0" indent="0">
              <a:buNone/>
            </a:pPr>
            <a:r>
              <a:rPr lang="en-US" sz="1350" b="1" dirty="0">
                <a:solidFill>
                  <a:srgbClr val="1A6EBD"/>
                </a:solidFill>
                <a:latin typeface="Cambria" pitchFamily="34" charset="0"/>
                <a:ea typeface="Cambria" pitchFamily="34" charset="-122"/>
                <a:cs typeface="Cambria" pitchFamily="34" charset="-120"/>
              </a:rPr>
              <a:t>Current Frameworks</a:t>
            </a:r>
            <a:endParaRPr lang="en-US" sz="1350" dirty="0"/>
          </a:p>
        </p:txBody>
      </p:sp>
      <p:sp>
        <p:nvSpPr>
          <p:cNvPr id="19" name="Shape 17"/>
          <p:cNvSpPr/>
          <p:nvPr/>
        </p:nvSpPr>
        <p:spPr>
          <a:xfrm>
            <a:off x="3392424" y="2231136"/>
            <a:ext cx="2514600" cy="36576"/>
          </a:xfrm>
          <a:prstGeom prst="rect">
            <a:avLst/>
          </a:prstGeom>
          <a:solidFill>
            <a:srgbClr val="D1DCE8"/>
          </a:solidFill>
          <a:ln/>
        </p:spPr>
        <p:txBody>
          <a:bodyPr/>
          <a:lstStyle/>
          <a:p>
            <a:endParaRPr lang="en-IN"/>
          </a:p>
        </p:txBody>
      </p:sp>
      <p:sp>
        <p:nvSpPr>
          <p:cNvPr id="20" name="Text 18"/>
          <p:cNvSpPr/>
          <p:nvPr/>
        </p:nvSpPr>
        <p:spPr>
          <a:xfrm>
            <a:off x="3392424" y="2304288"/>
            <a:ext cx="2514600" cy="2468880"/>
          </a:xfrm>
          <a:prstGeom prst="rect">
            <a:avLst/>
          </a:prstGeom>
          <a:noFill/>
          <a:ln/>
        </p:spPr>
        <p:txBody>
          <a:bodyPr wrap="square" rtlCol="0" anchor="t"/>
          <a:lstStyle/>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OWASP LLM Top-10 (2023–2025)</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NIST AI RMF — AAGATE governance</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Static guardrails / prompt templates</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Regex-based input filters</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Simple RBAC policies</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Agent Security Bench — ASB [Zhang et al., ICLR 2025]</a:t>
            </a:r>
            <a:endParaRPr lang="en-US" sz="1100" dirty="0"/>
          </a:p>
        </p:txBody>
      </p:sp>
      <p:sp>
        <p:nvSpPr>
          <p:cNvPr id="21" name="Shape 19"/>
          <p:cNvSpPr/>
          <p:nvPr/>
        </p:nvSpPr>
        <p:spPr>
          <a:xfrm>
            <a:off x="6135624" y="1737360"/>
            <a:ext cx="2761488" cy="309067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2" name="Shape 20"/>
          <p:cNvSpPr/>
          <p:nvPr/>
        </p:nvSpPr>
        <p:spPr>
          <a:xfrm>
            <a:off x="6135624" y="1737360"/>
            <a:ext cx="64008" cy="3090672"/>
          </a:xfrm>
          <a:prstGeom prst="rect">
            <a:avLst/>
          </a:prstGeom>
          <a:solidFill>
            <a:srgbClr val="B06000"/>
          </a:solidFill>
          <a:ln w="12700">
            <a:solidFill>
              <a:srgbClr val="B06000"/>
            </a:solidFill>
            <a:prstDash val="solid"/>
          </a:ln>
        </p:spPr>
        <p:txBody>
          <a:bodyPr/>
          <a:lstStyle/>
          <a:p>
            <a:endParaRPr lang="en-IN"/>
          </a:p>
        </p:txBody>
      </p:sp>
      <p:sp>
        <p:nvSpPr>
          <p:cNvPr id="23" name="Text 21"/>
          <p:cNvSpPr/>
          <p:nvPr/>
        </p:nvSpPr>
        <p:spPr>
          <a:xfrm>
            <a:off x="6300216" y="1773936"/>
            <a:ext cx="2514600" cy="457200"/>
          </a:xfrm>
          <a:prstGeom prst="rect">
            <a:avLst/>
          </a:prstGeom>
          <a:noFill/>
          <a:ln/>
        </p:spPr>
        <p:txBody>
          <a:bodyPr wrap="square" rtlCol="0" anchor="ctr"/>
          <a:lstStyle/>
          <a:p>
            <a:pPr marL="0" indent="0">
              <a:buNone/>
            </a:pPr>
            <a:r>
              <a:rPr lang="en-US" sz="1350" b="1" dirty="0">
                <a:solidFill>
                  <a:srgbClr val="B06000"/>
                </a:solidFill>
                <a:latin typeface="Cambria" pitchFamily="34" charset="0"/>
                <a:ea typeface="Cambria" pitchFamily="34" charset="-122"/>
                <a:cs typeface="Cambria" pitchFamily="34" charset="-120"/>
              </a:rPr>
              <a:t>The Gap</a:t>
            </a:r>
            <a:endParaRPr lang="en-US" sz="1350" dirty="0"/>
          </a:p>
        </p:txBody>
      </p:sp>
      <p:sp>
        <p:nvSpPr>
          <p:cNvPr id="24" name="Shape 22"/>
          <p:cNvSpPr/>
          <p:nvPr/>
        </p:nvSpPr>
        <p:spPr>
          <a:xfrm>
            <a:off x="6300216" y="2231136"/>
            <a:ext cx="2514600" cy="36576"/>
          </a:xfrm>
          <a:prstGeom prst="rect">
            <a:avLst/>
          </a:prstGeom>
          <a:solidFill>
            <a:srgbClr val="D1DCE8"/>
          </a:solidFill>
          <a:ln/>
        </p:spPr>
        <p:txBody>
          <a:bodyPr/>
          <a:lstStyle/>
          <a:p>
            <a:endParaRPr lang="en-IN"/>
          </a:p>
        </p:txBody>
      </p:sp>
      <p:sp>
        <p:nvSpPr>
          <p:cNvPr id="25" name="Text 23"/>
          <p:cNvSpPr/>
          <p:nvPr/>
        </p:nvSpPr>
        <p:spPr>
          <a:xfrm>
            <a:off x="6300216" y="2304288"/>
            <a:ext cx="2514600" cy="2468880"/>
          </a:xfrm>
          <a:prstGeom prst="rect">
            <a:avLst/>
          </a:prstGeom>
          <a:noFill/>
          <a:ln/>
        </p:spPr>
        <p:txBody>
          <a:bodyPr wrap="square" rtlCol="0" anchor="t"/>
          <a:lstStyle/>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No real-time semantic policy enforcement</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Offline-only testing (red-teaming)</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No provenance / intent tracking</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No cross-agent consensus mechanism</a:t>
            </a:r>
            <a:endParaRPr lang="en-US" sz="1100" dirty="0"/>
          </a:p>
          <a:p>
            <a:pPr marL="342900" indent="-342900">
              <a:buSzPct val="100000"/>
              <a:buChar char="•"/>
            </a:pPr>
            <a:r>
              <a:rPr lang="en-US" sz="1100" dirty="0">
                <a:solidFill>
                  <a:srgbClr val="2E4057"/>
                </a:solidFill>
                <a:latin typeface="Calibri" pitchFamily="34" charset="0"/>
                <a:ea typeface="Calibri" pitchFamily="34" charset="-122"/>
                <a:cs typeface="Calibri" pitchFamily="34" charset="-120"/>
              </a:rPr>
              <a:t>Domain-specific agents largely unsecured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03  Problem Statement</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126187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1261872"/>
          </a:xfrm>
          <a:prstGeom prst="rect">
            <a:avLst/>
          </a:prstGeom>
          <a:solidFill>
            <a:srgbClr val="B91C1C"/>
          </a:solidFill>
          <a:ln w="12700">
            <a:solidFill>
              <a:srgbClr val="B91C1C"/>
            </a:solidFill>
            <a:prstDash val="solid"/>
          </a:ln>
        </p:spPr>
        <p:txBody>
          <a:bodyPr/>
          <a:lstStyle/>
          <a:p>
            <a:endParaRPr lang="en-IN"/>
          </a:p>
        </p:txBody>
      </p:sp>
      <p:sp>
        <p:nvSpPr>
          <p:cNvPr id="10" name="Text 8"/>
          <p:cNvSpPr/>
          <p:nvPr/>
        </p:nvSpPr>
        <p:spPr>
          <a:xfrm>
            <a:off x="502920" y="850392"/>
            <a:ext cx="8211312" cy="1170432"/>
          </a:xfrm>
          <a:prstGeom prst="rect">
            <a:avLst/>
          </a:prstGeom>
          <a:noFill/>
          <a:ln/>
        </p:spPr>
        <p:txBody>
          <a:bodyPr wrap="square" rtlCol="0" anchor="ctr"/>
          <a:lstStyle/>
          <a:p>
            <a:pPr marL="0" indent="0">
              <a:buNone/>
            </a:pPr>
            <a:r>
              <a:rPr lang="en-US" sz="1250" dirty="0">
                <a:solidFill>
                  <a:srgbClr val="2E4057"/>
                </a:solidFill>
                <a:latin typeface="Calibri" pitchFamily="34" charset="0"/>
                <a:ea typeface="Calibri" pitchFamily="34" charset="-122"/>
                <a:cs typeface="Calibri" pitchFamily="34" charset="-120"/>
              </a:rPr>
              <a:t>As Large Language Models evolve into autonomous agentic AI systems capable of planning, reasoning, and executing real-world actions, existing security mechanisms prompt filtering, role-based access control become inadequate against advanced threats including prompt injection, jailbreaks, semantic manipulation, hallucinated actions, privilege escalation, and multi-turn goal hijacking. [MDPI Information, 2026; arXiv:2510.06445, 2025]</a:t>
            </a:r>
            <a:endParaRPr lang="en-US" sz="1250" dirty="0"/>
          </a:p>
        </p:txBody>
      </p:sp>
      <p:sp>
        <p:nvSpPr>
          <p:cNvPr id="11" name="Shape 9"/>
          <p:cNvSpPr/>
          <p:nvPr/>
        </p:nvSpPr>
        <p:spPr>
          <a:xfrm>
            <a:off x="320040" y="2212848"/>
            <a:ext cx="2761488" cy="251460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2212848"/>
            <a:ext cx="64008" cy="2514600"/>
          </a:xfrm>
          <a:prstGeom prst="rect">
            <a:avLst/>
          </a:prstGeom>
          <a:solidFill>
            <a:srgbClr val="B91C1C"/>
          </a:solidFill>
          <a:ln w="12700">
            <a:solidFill>
              <a:srgbClr val="B91C1C"/>
            </a:solidFill>
            <a:prstDash val="solid"/>
          </a:ln>
        </p:spPr>
        <p:txBody>
          <a:bodyPr/>
          <a:lstStyle/>
          <a:p>
            <a:endParaRPr lang="en-IN"/>
          </a:p>
        </p:txBody>
      </p:sp>
      <p:sp>
        <p:nvSpPr>
          <p:cNvPr id="13" name="Text 11"/>
          <p:cNvSpPr/>
          <p:nvPr/>
        </p:nvSpPr>
        <p:spPr>
          <a:xfrm>
            <a:off x="320040" y="2322576"/>
            <a:ext cx="2761488" cy="56692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4" name="Shape 12"/>
          <p:cNvSpPr/>
          <p:nvPr/>
        </p:nvSpPr>
        <p:spPr>
          <a:xfrm>
            <a:off x="594360" y="2907792"/>
            <a:ext cx="2212848" cy="36576"/>
          </a:xfrm>
          <a:prstGeom prst="rect">
            <a:avLst/>
          </a:prstGeom>
          <a:solidFill>
            <a:srgbClr val="D1DCE8"/>
          </a:solidFill>
          <a:ln/>
        </p:spPr>
        <p:txBody>
          <a:bodyPr/>
          <a:lstStyle/>
          <a:p>
            <a:endParaRPr lang="en-IN"/>
          </a:p>
        </p:txBody>
      </p:sp>
      <p:sp>
        <p:nvSpPr>
          <p:cNvPr id="15" name="Text 13"/>
          <p:cNvSpPr/>
          <p:nvPr/>
        </p:nvSpPr>
        <p:spPr>
          <a:xfrm>
            <a:off x="429768" y="2980944"/>
            <a:ext cx="2542032" cy="384048"/>
          </a:xfrm>
          <a:prstGeom prst="rect">
            <a:avLst/>
          </a:prstGeom>
          <a:noFill/>
          <a:ln/>
        </p:spPr>
        <p:txBody>
          <a:bodyPr wrap="square" rtlCol="0" anchor="ctr"/>
          <a:lstStyle/>
          <a:p>
            <a:pPr marL="0" indent="0" algn="ctr">
              <a:buNone/>
            </a:pPr>
            <a:r>
              <a:rPr lang="en-US" sz="1300" b="1" dirty="0">
                <a:solidFill>
                  <a:srgbClr val="B91C1C"/>
                </a:solidFill>
                <a:latin typeface="Cambria" pitchFamily="34" charset="0"/>
                <a:ea typeface="Cambria" pitchFamily="34" charset="-122"/>
                <a:cs typeface="Cambria" pitchFamily="34" charset="-120"/>
              </a:rPr>
              <a:t>Semantic Blind Spot</a:t>
            </a:r>
            <a:endParaRPr lang="en-US" sz="1300" dirty="0"/>
          </a:p>
        </p:txBody>
      </p:sp>
      <p:sp>
        <p:nvSpPr>
          <p:cNvPr id="16" name="Text 14"/>
          <p:cNvSpPr/>
          <p:nvPr/>
        </p:nvSpPr>
        <p:spPr>
          <a:xfrm>
            <a:off x="448056" y="3401568"/>
            <a:ext cx="2505456" cy="1261872"/>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Current defenses lack semantic awareness and cannot distinguish between a legitimate request and a carefully crafted manipulation that appears valid. LLMs trust anything that can send convincing-sounding tokens — creating a 'confused deputy' vulnerability. [OWASP LLM01:2025]</a:t>
            </a:r>
            <a:endParaRPr lang="en-US" sz="1050" dirty="0"/>
          </a:p>
        </p:txBody>
      </p:sp>
      <p:sp>
        <p:nvSpPr>
          <p:cNvPr id="17" name="Shape 15"/>
          <p:cNvSpPr/>
          <p:nvPr/>
        </p:nvSpPr>
        <p:spPr>
          <a:xfrm>
            <a:off x="3227832" y="2212848"/>
            <a:ext cx="2761488" cy="251460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8" name="Shape 16"/>
          <p:cNvSpPr/>
          <p:nvPr/>
        </p:nvSpPr>
        <p:spPr>
          <a:xfrm>
            <a:off x="3227832" y="2212848"/>
            <a:ext cx="64008" cy="2514600"/>
          </a:xfrm>
          <a:prstGeom prst="rect">
            <a:avLst/>
          </a:prstGeom>
          <a:solidFill>
            <a:srgbClr val="B91C1C"/>
          </a:solidFill>
          <a:ln w="12700">
            <a:solidFill>
              <a:srgbClr val="B91C1C"/>
            </a:solidFill>
            <a:prstDash val="solid"/>
          </a:ln>
        </p:spPr>
        <p:txBody>
          <a:bodyPr/>
          <a:lstStyle/>
          <a:p>
            <a:endParaRPr lang="en-IN"/>
          </a:p>
        </p:txBody>
      </p:sp>
      <p:sp>
        <p:nvSpPr>
          <p:cNvPr id="19" name="Text 17"/>
          <p:cNvSpPr/>
          <p:nvPr/>
        </p:nvSpPr>
        <p:spPr>
          <a:xfrm>
            <a:off x="3227832" y="2322576"/>
            <a:ext cx="2761488" cy="56692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0" name="Shape 18"/>
          <p:cNvSpPr/>
          <p:nvPr/>
        </p:nvSpPr>
        <p:spPr>
          <a:xfrm>
            <a:off x="3502152" y="2907792"/>
            <a:ext cx="2212848" cy="36576"/>
          </a:xfrm>
          <a:prstGeom prst="rect">
            <a:avLst/>
          </a:prstGeom>
          <a:solidFill>
            <a:srgbClr val="D1DCE8"/>
          </a:solidFill>
          <a:ln/>
        </p:spPr>
        <p:txBody>
          <a:bodyPr/>
          <a:lstStyle/>
          <a:p>
            <a:endParaRPr lang="en-IN"/>
          </a:p>
        </p:txBody>
      </p:sp>
      <p:sp>
        <p:nvSpPr>
          <p:cNvPr id="21" name="Text 19"/>
          <p:cNvSpPr/>
          <p:nvPr/>
        </p:nvSpPr>
        <p:spPr>
          <a:xfrm>
            <a:off x="3337560" y="2980944"/>
            <a:ext cx="2542032" cy="384048"/>
          </a:xfrm>
          <a:prstGeom prst="rect">
            <a:avLst/>
          </a:prstGeom>
          <a:noFill/>
          <a:ln/>
        </p:spPr>
        <p:txBody>
          <a:bodyPr wrap="square" rtlCol="0" anchor="ctr"/>
          <a:lstStyle/>
          <a:p>
            <a:pPr marL="0" indent="0" algn="ctr">
              <a:buNone/>
            </a:pPr>
            <a:r>
              <a:rPr lang="en-US" sz="1300" b="1" dirty="0">
                <a:solidFill>
                  <a:srgbClr val="B91C1C"/>
                </a:solidFill>
                <a:latin typeface="Cambria" pitchFamily="34" charset="0"/>
                <a:ea typeface="Cambria" pitchFamily="34" charset="-122"/>
                <a:cs typeface="Cambria" pitchFamily="34" charset="-120"/>
              </a:rPr>
              <a:t>No Provenance Tracking</a:t>
            </a:r>
            <a:endParaRPr lang="en-US" sz="1300" dirty="0"/>
          </a:p>
        </p:txBody>
      </p:sp>
      <p:sp>
        <p:nvSpPr>
          <p:cNvPr id="22" name="Text 20"/>
          <p:cNvSpPr/>
          <p:nvPr/>
        </p:nvSpPr>
        <p:spPr>
          <a:xfrm>
            <a:off x="3355848" y="3401568"/>
            <a:ext cx="2505456" cy="1261872"/>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Systems cannot trace the origin or trustworthiness of information influencing an agent's action. Research shows just five crafted documents can manipulate AI responses 90% of the time via  poisoning. [arXiv:2406.02630, 2024]</a:t>
            </a:r>
            <a:endParaRPr lang="en-US" sz="1050" dirty="0"/>
          </a:p>
        </p:txBody>
      </p:sp>
      <p:sp>
        <p:nvSpPr>
          <p:cNvPr id="23" name="Shape 21"/>
          <p:cNvSpPr/>
          <p:nvPr/>
        </p:nvSpPr>
        <p:spPr>
          <a:xfrm>
            <a:off x="6135624" y="2212848"/>
            <a:ext cx="2761488" cy="251460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4" name="Shape 22"/>
          <p:cNvSpPr/>
          <p:nvPr/>
        </p:nvSpPr>
        <p:spPr>
          <a:xfrm>
            <a:off x="6135624" y="2212848"/>
            <a:ext cx="64008" cy="2514600"/>
          </a:xfrm>
          <a:prstGeom prst="rect">
            <a:avLst/>
          </a:prstGeom>
          <a:solidFill>
            <a:srgbClr val="B91C1C"/>
          </a:solidFill>
          <a:ln w="12700">
            <a:solidFill>
              <a:srgbClr val="B91C1C"/>
            </a:solidFill>
            <a:prstDash val="solid"/>
          </a:ln>
        </p:spPr>
        <p:txBody>
          <a:bodyPr/>
          <a:lstStyle/>
          <a:p>
            <a:endParaRPr lang="en-IN"/>
          </a:p>
        </p:txBody>
      </p:sp>
      <p:sp>
        <p:nvSpPr>
          <p:cNvPr id="25" name="Text 23"/>
          <p:cNvSpPr/>
          <p:nvPr/>
        </p:nvSpPr>
        <p:spPr>
          <a:xfrm>
            <a:off x="6135624" y="2322576"/>
            <a:ext cx="2761488" cy="566928"/>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6" name="Shape 24"/>
          <p:cNvSpPr/>
          <p:nvPr/>
        </p:nvSpPr>
        <p:spPr>
          <a:xfrm>
            <a:off x="6409944" y="2907792"/>
            <a:ext cx="2212848" cy="36576"/>
          </a:xfrm>
          <a:prstGeom prst="rect">
            <a:avLst/>
          </a:prstGeom>
          <a:solidFill>
            <a:srgbClr val="D1DCE8"/>
          </a:solidFill>
          <a:ln/>
        </p:spPr>
        <p:txBody>
          <a:bodyPr/>
          <a:lstStyle/>
          <a:p>
            <a:endParaRPr lang="en-IN"/>
          </a:p>
        </p:txBody>
      </p:sp>
      <p:sp>
        <p:nvSpPr>
          <p:cNvPr id="27" name="Text 25"/>
          <p:cNvSpPr/>
          <p:nvPr/>
        </p:nvSpPr>
        <p:spPr>
          <a:xfrm>
            <a:off x="6245352" y="2980944"/>
            <a:ext cx="2542032" cy="384048"/>
          </a:xfrm>
          <a:prstGeom prst="rect">
            <a:avLst/>
          </a:prstGeom>
          <a:noFill/>
          <a:ln/>
        </p:spPr>
        <p:txBody>
          <a:bodyPr wrap="square" rtlCol="0" anchor="ctr"/>
          <a:lstStyle/>
          <a:p>
            <a:pPr marL="0" indent="0" algn="ctr">
              <a:buNone/>
            </a:pPr>
            <a:r>
              <a:rPr lang="en-US" sz="1300" b="1" dirty="0">
                <a:solidFill>
                  <a:srgbClr val="B91C1C"/>
                </a:solidFill>
                <a:latin typeface="Cambria" pitchFamily="34" charset="0"/>
                <a:ea typeface="Cambria" pitchFamily="34" charset="-122"/>
                <a:cs typeface="Cambria" pitchFamily="34" charset="-120"/>
              </a:rPr>
              <a:t>Runtime Verification Gap</a:t>
            </a:r>
            <a:endParaRPr lang="en-US" sz="1300" dirty="0"/>
          </a:p>
        </p:txBody>
      </p:sp>
      <p:sp>
        <p:nvSpPr>
          <p:cNvPr id="28" name="Text 26"/>
          <p:cNvSpPr/>
          <p:nvPr/>
        </p:nvSpPr>
        <p:spPr>
          <a:xfrm>
            <a:off x="6263640" y="3401568"/>
            <a:ext cx="2505456" cy="1261872"/>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Agents produce logically consistent yet unsafe actions — especially across multi-agent chains where hallucinations propagate. No existing system provides real-time, intent-verified, cross-agent validation before execution. [Debenedetti et al., 2025]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112542" y="0"/>
            <a:ext cx="9031458" cy="658368"/>
          </a:xfrm>
          <a:prstGeom prst="rect">
            <a:avLst/>
          </a:prstGeom>
          <a:solidFill>
            <a:schemeClr val="tx1"/>
          </a:solid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  04  Existing Security Methods</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2761488" cy="20116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2011680"/>
          </a:xfrm>
          <a:prstGeom prst="rect">
            <a:avLst/>
          </a:prstGeom>
          <a:solidFill>
            <a:srgbClr val="1A6EBD"/>
          </a:solidFill>
          <a:ln w="12700">
            <a:solidFill>
              <a:srgbClr val="1A6EBD"/>
            </a:solidFill>
            <a:prstDash val="solid"/>
          </a:ln>
        </p:spPr>
        <p:txBody>
          <a:bodyPr/>
          <a:lstStyle/>
          <a:p>
            <a:endParaRPr lang="en-IN"/>
          </a:p>
        </p:txBody>
      </p:sp>
      <p:sp>
        <p:nvSpPr>
          <p:cNvPr id="10" name="Text 8"/>
          <p:cNvSpPr/>
          <p:nvPr/>
        </p:nvSpPr>
        <p:spPr>
          <a:xfrm>
            <a:off x="320040" y="877824"/>
            <a:ext cx="276148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Shape 9"/>
          <p:cNvSpPr/>
          <p:nvPr/>
        </p:nvSpPr>
        <p:spPr>
          <a:xfrm>
            <a:off x="502920" y="1463040"/>
            <a:ext cx="2395728" cy="36576"/>
          </a:xfrm>
          <a:prstGeom prst="rect">
            <a:avLst/>
          </a:prstGeom>
          <a:solidFill>
            <a:srgbClr val="D1DCE8"/>
          </a:solidFill>
          <a:ln/>
        </p:spPr>
        <p:txBody>
          <a:bodyPr/>
          <a:lstStyle/>
          <a:p>
            <a:endParaRPr lang="en-IN"/>
          </a:p>
        </p:txBody>
      </p:sp>
      <p:sp>
        <p:nvSpPr>
          <p:cNvPr id="12" name="Text 10"/>
          <p:cNvSpPr/>
          <p:nvPr/>
        </p:nvSpPr>
        <p:spPr>
          <a:xfrm>
            <a:off x="429768" y="1536192"/>
            <a:ext cx="2542032" cy="384048"/>
          </a:xfrm>
          <a:prstGeom prst="rect">
            <a:avLst/>
          </a:prstGeom>
          <a:noFill/>
          <a:ln/>
        </p:spPr>
        <p:txBody>
          <a:bodyPr wrap="square" rtlCol="0" anchor="ctr"/>
          <a:lstStyle/>
          <a:p>
            <a:pPr marL="0" indent="0" algn="ctr">
              <a:buNone/>
            </a:pPr>
            <a:r>
              <a:rPr lang="en-US" sz="1300" b="1" dirty="0">
                <a:solidFill>
                  <a:srgbClr val="0F4C8A"/>
                </a:solidFill>
                <a:latin typeface="Cambria" pitchFamily="34" charset="0"/>
                <a:ea typeface="Cambria" pitchFamily="34" charset="-122"/>
                <a:cs typeface="Cambria" pitchFamily="34" charset="-120"/>
              </a:rPr>
              <a:t>Guardrails</a:t>
            </a:r>
            <a:endParaRPr lang="en-US" sz="1300" dirty="0"/>
          </a:p>
        </p:txBody>
      </p:sp>
      <p:sp>
        <p:nvSpPr>
          <p:cNvPr id="13" name="Text 11"/>
          <p:cNvSpPr/>
          <p:nvPr/>
        </p:nvSpPr>
        <p:spPr>
          <a:xfrm>
            <a:off x="448056" y="1938528"/>
            <a:ext cx="2505456" cy="65836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Static rule-based filters applied pre/post-inference to block known bad patterns. Effective for common attacks but rigid — easily bypassed by novel or paraphrased inputs.</a:t>
            </a:r>
            <a:endParaRPr lang="en-US" sz="1050" dirty="0"/>
          </a:p>
        </p:txBody>
      </p:sp>
      <p:sp>
        <p:nvSpPr>
          <p:cNvPr id="15" name="Text 13"/>
          <p:cNvSpPr/>
          <p:nvPr/>
        </p:nvSpPr>
        <p:spPr>
          <a:xfrm>
            <a:off x="466344" y="2596896"/>
            <a:ext cx="2468880" cy="201168"/>
          </a:xfrm>
          <a:prstGeom prst="rect">
            <a:avLst/>
          </a:prstGeom>
          <a:noFill/>
          <a:ln/>
        </p:spPr>
        <p:txBody>
          <a:bodyPr wrap="square"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  No semantic understanding</a:t>
            </a:r>
            <a:endParaRPr lang="en-US" sz="950" dirty="0"/>
          </a:p>
        </p:txBody>
      </p:sp>
      <p:sp>
        <p:nvSpPr>
          <p:cNvPr id="16" name="Shape 14"/>
          <p:cNvSpPr/>
          <p:nvPr/>
        </p:nvSpPr>
        <p:spPr>
          <a:xfrm>
            <a:off x="3227832" y="804672"/>
            <a:ext cx="2761488" cy="20116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7" name="Shape 15"/>
          <p:cNvSpPr/>
          <p:nvPr/>
        </p:nvSpPr>
        <p:spPr>
          <a:xfrm>
            <a:off x="3227832" y="804672"/>
            <a:ext cx="64008" cy="2011680"/>
          </a:xfrm>
          <a:prstGeom prst="rect">
            <a:avLst/>
          </a:prstGeom>
          <a:solidFill>
            <a:srgbClr val="1A6EBD"/>
          </a:solidFill>
          <a:ln w="12700">
            <a:solidFill>
              <a:srgbClr val="1A6EBD"/>
            </a:solidFill>
            <a:prstDash val="solid"/>
          </a:ln>
        </p:spPr>
        <p:txBody>
          <a:bodyPr/>
          <a:lstStyle/>
          <a:p>
            <a:endParaRPr lang="en-IN"/>
          </a:p>
        </p:txBody>
      </p:sp>
      <p:sp>
        <p:nvSpPr>
          <p:cNvPr id="18" name="Text 16"/>
          <p:cNvSpPr/>
          <p:nvPr/>
        </p:nvSpPr>
        <p:spPr>
          <a:xfrm>
            <a:off x="3227832" y="877824"/>
            <a:ext cx="276148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9" name="Shape 17"/>
          <p:cNvSpPr/>
          <p:nvPr/>
        </p:nvSpPr>
        <p:spPr>
          <a:xfrm>
            <a:off x="3410712" y="1463040"/>
            <a:ext cx="2395728" cy="36576"/>
          </a:xfrm>
          <a:prstGeom prst="rect">
            <a:avLst/>
          </a:prstGeom>
          <a:solidFill>
            <a:srgbClr val="D1DCE8"/>
          </a:solidFill>
          <a:ln/>
        </p:spPr>
        <p:txBody>
          <a:bodyPr/>
          <a:lstStyle/>
          <a:p>
            <a:endParaRPr lang="en-IN"/>
          </a:p>
        </p:txBody>
      </p:sp>
      <p:sp>
        <p:nvSpPr>
          <p:cNvPr id="20" name="Text 18"/>
          <p:cNvSpPr/>
          <p:nvPr/>
        </p:nvSpPr>
        <p:spPr>
          <a:xfrm>
            <a:off x="3337560" y="1536192"/>
            <a:ext cx="2542032" cy="384048"/>
          </a:xfrm>
          <a:prstGeom prst="rect">
            <a:avLst/>
          </a:prstGeom>
          <a:noFill/>
          <a:ln/>
        </p:spPr>
        <p:txBody>
          <a:bodyPr wrap="square" rtlCol="0" anchor="ctr"/>
          <a:lstStyle/>
          <a:p>
            <a:pPr marL="0" indent="0" algn="ctr">
              <a:buNone/>
            </a:pPr>
            <a:r>
              <a:rPr lang="en-US" sz="1300" b="1" dirty="0">
                <a:solidFill>
                  <a:srgbClr val="0F4C8A"/>
                </a:solidFill>
                <a:latin typeface="Cambria" pitchFamily="34" charset="0"/>
                <a:ea typeface="Cambria" pitchFamily="34" charset="-122"/>
                <a:cs typeface="Cambria" pitchFamily="34" charset="-120"/>
              </a:rPr>
              <a:t>Input Sanitization</a:t>
            </a:r>
            <a:endParaRPr lang="en-US" sz="1300" dirty="0"/>
          </a:p>
        </p:txBody>
      </p:sp>
      <p:sp>
        <p:nvSpPr>
          <p:cNvPr id="21" name="Text 19"/>
          <p:cNvSpPr/>
          <p:nvPr/>
        </p:nvSpPr>
        <p:spPr>
          <a:xfrm>
            <a:off x="3355848" y="1938528"/>
            <a:ext cx="2505456" cy="65836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Regex and schema-based validation to strip or reject malformed inputs. Effective against simple injections but fails against context-aware prompt manipulation.</a:t>
            </a:r>
            <a:endParaRPr lang="en-US" sz="1050" dirty="0"/>
          </a:p>
        </p:txBody>
      </p:sp>
      <p:sp>
        <p:nvSpPr>
          <p:cNvPr id="23" name="Text 21"/>
          <p:cNvSpPr/>
          <p:nvPr/>
        </p:nvSpPr>
        <p:spPr>
          <a:xfrm>
            <a:off x="3374136" y="2596896"/>
            <a:ext cx="2468880" cy="201168"/>
          </a:xfrm>
          <a:prstGeom prst="rect">
            <a:avLst/>
          </a:prstGeom>
          <a:noFill/>
          <a:ln/>
        </p:spPr>
        <p:txBody>
          <a:bodyPr wrap="square"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  Cannot detect semantic drift</a:t>
            </a:r>
            <a:endParaRPr lang="en-US" sz="950" dirty="0"/>
          </a:p>
        </p:txBody>
      </p:sp>
      <p:sp>
        <p:nvSpPr>
          <p:cNvPr id="24" name="Shape 22"/>
          <p:cNvSpPr/>
          <p:nvPr/>
        </p:nvSpPr>
        <p:spPr>
          <a:xfrm>
            <a:off x="6135624" y="804672"/>
            <a:ext cx="2761488" cy="20116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5" name="Shape 23"/>
          <p:cNvSpPr/>
          <p:nvPr/>
        </p:nvSpPr>
        <p:spPr>
          <a:xfrm>
            <a:off x="6135624" y="804672"/>
            <a:ext cx="64008" cy="2011680"/>
          </a:xfrm>
          <a:prstGeom prst="rect">
            <a:avLst/>
          </a:prstGeom>
          <a:solidFill>
            <a:srgbClr val="1A6EBD"/>
          </a:solidFill>
          <a:ln w="12700">
            <a:solidFill>
              <a:srgbClr val="1A6EBD"/>
            </a:solidFill>
            <a:prstDash val="solid"/>
          </a:ln>
        </p:spPr>
        <p:txBody>
          <a:bodyPr/>
          <a:lstStyle/>
          <a:p>
            <a:endParaRPr lang="en-IN"/>
          </a:p>
        </p:txBody>
      </p:sp>
      <p:sp>
        <p:nvSpPr>
          <p:cNvPr id="26" name="Text 24"/>
          <p:cNvSpPr/>
          <p:nvPr/>
        </p:nvSpPr>
        <p:spPr>
          <a:xfrm>
            <a:off x="6135624" y="877824"/>
            <a:ext cx="276148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7" name="Shape 25"/>
          <p:cNvSpPr/>
          <p:nvPr/>
        </p:nvSpPr>
        <p:spPr>
          <a:xfrm>
            <a:off x="6318504" y="1463040"/>
            <a:ext cx="2395728" cy="36576"/>
          </a:xfrm>
          <a:prstGeom prst="rect">
            <a:avLst/>
          </a:prstGeom>
          <a:solidFill>
            <a:srgbClr val="D1DCE8"/>
          </a:solidFill>
          <a:ln/>
        </p:spPr>
        <p:txBody>
          <a:bodyPr/>
          <a:lstStyle/>
          <a:p>
            <a:endParaRPr lang="en-IN"/>
          </a:p>
        </p:txBody>
      </p:sp>
      <p:sp>
        <p:nvSpPr>
          <p:cNvPr id="28" name="Text 26"/>
          <p:cNvSpPr/>
          <p:nvPr/>
        </p:nvSpPr>
        <p:spPr>
          <a:xfrm>
            <a:off x="6245352" y="1536192"/>
            <a:ext cx="2542032" cy="384048"/>
          </a:xfrm>
          <a:prstGeom prst="rect">
            <a:avLst/>
          </a:prstGeom>
          <a:noFill/>
          <a:ln/>
        </p:spPr>
        <p:txBody>
          <a:bodyPr wrap="square" rtlCol="0" anchor="ctr"/>
          <a:lstStyle/>
          <a:p>
            <a:pPr marL="0" indent="0" algn="ctr">
              <a:buNone/>
            </a:pPr>
            <a:r>
              <a:rPr lang="en-US" sz="1300" b="1" dirty="0">
                <a:solidFill>
                  <a:srgbClr val="0F4C8A"/>
                </a:solidFill>
                <a:latin typeface="Cambria" pitchFamily="34" charset="0"/>
                <a:ea typeface="Cambria" pitchFamily="34" charset="-122"/>
                <a:cs typeface="Cambria" pitchFamily="34" charset="-120"/>
              </a:rPr>
              <a:t>Role-Based Access Control</a:t>
            </a:r>
            <a:endParaRPr lang="en-US" sz="1300" dirty="0"/>
          </a:p>
        </p:txBody>
      </p:sp>
      <p:sp>
        <p:nvSpPr>
          <p:cNvPr id="29" name="Text 27"/>
          <p:cNvSpPr/>
          <p:nvPr/>
        </p:nvSpPr>
        <p:spPr>
          <a:xfrm>
            <a:off x="6263640" y="1938528"/>
            <a:ext cx="2505456" cy="65836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Assigns permissions based on predefined roles. Prevents unauthorised resource access but is static and unaware of dynamic multi-agent contexts or intent changes.</a:t>
            </a:r>
            <a:endParaRPr lang="en-US" sz="1050" dirty="0"/>
          </a:p>
        </p:txBody>
      </p:sp>
      <p:sp>
        <p:nvSpPr>
          <p:cNvPr id="31" name="Text 29"/>
          <p:cNvSpPr/>
          <p:nvPr/>
        </p:nvSpPr>
        <p:spPr>
          <a:xfrm>
            <a:off x="6281928" y="2625031"/>
            <a:ext cx="2468880" cy="201168"/>
          </a:xfrm>
          <a:prstGeom prst="rect">
            <a:avLst/>
          </a:prstGeom>
          <a:noFill/>
          <a:ln/>
        </p:spPr>
        <p:txBody>
          <a:bodyPr wrap="square"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  Static — no intent awareness</a:t>
            </a:r>
            <a:endParaRPr lang="en-US" sz="950" dirty="0"/>
          </a:p>
        </p:txBody>
      </p:sp>
      <p:sp>
        <p:nvSpPr>
          <p:cNvPr id="32" name="Shape 30"/>
          <p:cNvSpPr/>
          <p:nvPr/>
        </p:nvSpPr>
        <p:spPr>
          <a:xfrm>
            <a:off x="320040" y="2926080"/>
            <a:ext cx="2761488" cy="20116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3" name="Shape 31"/>
          <p:cNvSpPr/>
          <p:nvPr/>
        </p:nvSpPr>
        <p:spPr>
          <a:xfrm>
            <a:off x="320040" y="2926080"/>
            <a:ext cx="64008" cy="2011680"/>
          </a:xfrm>
          <a:prstGeom prst="rect">
            <a:avLst/>
          </a:prstGeom>
          <a:solidFill>
            <a:srgbClr val="1A6EBD"/>
          </a:solidFill>
          <a:ln w="12700">
            <a:solidFill>
              <a:srgbClr val="1A6EBD"/>
            </a:solidFill>
            <a:prstDash val="solid"/>
          </a:ln>
        </p:spPr>
        <p:txBody>
          <a:bodyPr/>
          <a:lstStyle/>
          <a:p>
            <a:endParaRPr lang="en-IN"/>
          </a:p>
        </p:txBody>
      </p:sp>
      <p:sp>
        <p:nvSpPr>
          <p:cNvPr id="34" name="Text 32"/>
          <p:cNvSpPr/>
          <p:nvPr/>
        </p:nvSpPr>
        <p:spPr>
          <a:xfrm>
            <a:off x="320040" y="2999232"/>
            <a:ext cx="276148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35" name="Shape 33"/>
          <p:cNvSpPr/>
          <p:nvPr/>
        </p:nvSpPr>
        <p:spPr>
          <a:xfrm>
            <a:off x="502920" y="3584448"/>
            <a:ext cx="2395728" cy="36576"/>
          </a:xfrm>
          <a:prstGeom prst="rect">
            <a:avLst/>
          </a:prstGeom>
          <a:solidFill>
            <a:srgbClr val="D1DCE8"/>
          </a:solidFill>
          <a:ln/>
        </p:spPr>
        <p:txBody>
          <a:bodyPr/>
          <a:lstStyle/>
          <a:p>
            <a:endParaRPr lang="en-IN"/>
          </a:p>
        </p:txBody>
      </p:sp>
      <p:sp>
        <p:nvSpPr>
          <p:cNvPr id="36" name="Text 34"/>
          <p:cNvSpPr/>
          <p:nvPr/>
        </p:nvSpPr>
        <p:spPr>
          <a:xfrm>
            <a:off x="429768" y="3657600"/>
            <a:ext cx="2542032" cy="384048"/>
          </a:xfrm>
          <a:prstGeom prst="rect">
            <a:avLst/>
          </a:prstGeom>
          <a:noFill/>
          <a:ln/>
        </p:spPr>
        <p:txBody>
          <a:bodyPr wrap="square" rtlCol="0" anchor="ctr"/>
          <a:lstStyle/>
          <a:p>
            <a:pPr marL="0" indent="0" algn="ctr">
              <a:buNone/>
            </a:pPr>
            <a:r>
              <a:rPr lang="en-US" sz="1300" b="1" dirty="0">
                <a:solidFill>
                  <a:srgbClr val="0F4C8A"/>
                </a:solidFill>
                <a:latin typeface="Cambria" pitchFamily="34" charset="0"/>
                <a:ea typeface="Cambria" pitchFamily="34" charset="-122"/>
                <a:cs typeface="Cambria" pitchFamily="34" charset="-120"/>
              </a:rPr>
              <a:t>Adversarial Training</a:t>
            </a:r>
            <a:endParaRPr lang="en-US" sz="1300" dirty="0"/>
          </a:p>
        </p:txBody>
      </p:sp>
      <p:sp>
        <p:nvSpPr>
          <p:cNvPr id="37" name="Text 35"/>
          <p:cNvSpPr/>
          <p:nvPr/>
        </p:nvSpPr>
        <p:spPr>
          <a:xfrm>
            <a:off x="448056" y="4059936"/>
            <a:ext cx="2505456" cy="65836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Fine-tunes models on adversarial examples to improve robustness. Computationally expensive and cannot generalise to unseen attack types. [Zhang et al., ICLR 2025]</a:t>
            </a:r>
            <a:endParaRPr lang="en-US" sz="1050" dirty="0"/>
          </a:p>
        </p:txBody>
      </p:sp>
      <p:sp>
        <p:nvSpPr>
          <p:cNvPr id="39" name="Text 37"/>
          <p:cNvSpPr/>
          <p:nvPr/>
        </p:nvSpPr>
        <p:spPr>
          <a:xfrm>
            <a:off x="466344" y="4753473"/>
            <a:ext cx="2468880" cy="201168"/>
          </a:xfrm>
          <a:prstGeom prst="rect">
            <a:avLst/>
          </a:prstGeom>
          <a:noFill/>
          <a:ln/>
        </p:spPr>
        <p:txBody>
          <a:bodyPr wrap="square" rtlCol="0" anchor="ctr"/>
          <a:lstStyle/>
          <a:p>
            <a:pPr marL="0" indent="0">
              <a:buNone/>
            </a:pPr>
            <a:r>
              <a:rPr lang="en-US" sz="950" b="1" dirty="0">
                <a:solidFill>
                  <a:srgbClr val="B91C1C"/>
                </a:solidFill>
                <a:latin typeface="Calibri" pitchFamily="34" charset="0"/>
                <a:ea typeface="Calibri" pitchFamily="34" charset="-122"/>
                <a:cs typeface="Calibri" pitchFamily="34" charset="-120"/>
              </a:rPr>
              <a:t>⚑  Offline — not real-time</a:t>
            </a:r>
            <a:endParaRPr lang="en-US" sz="950" dirty="0"/>
          </a:p>
        </p:txBody>
      </p:sp>
      <p:sp>
        <p:nvSpPr>
          <p:cNvPr id="40" name="Shape 38"/>
          <p:cNvSpPr/>
          <p:nvPr/>
        </p:nvSpPr>
        <p:spPr>
          <a:xfrm>
            <a:off x="3227832" y="2926080"/>
            <a:ext cx="2761488" cy="201168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41" name="Shape 39"/>
          <p:cNvSpPr/>
          <p:nvPr/>
        </p:nvSpPr>
        <p:spPr>
          <a:xfrm>
            <a:off x="3227832" y="2926080"/>
            <a:ext cx="64008" cy="2011680"/>
          </a:xfrm>
          <a:prstGeom prst="rect">
            <a:avLst/>
          </a:prstGeom>
          <a:solidFill>
            <a:srgbClr val="1A6EBD"/>
          </a:solidFill>
          <a:ln w="12700">
            <a:solidFill>
              <a:srgbClr val="1A6EBD"/>
            </a:solidFill>
            <a:prstDash val="solid"/>
          </a:ln>
        </p:spPr>
        <p:txBody>
          <a:bodyPr/>
          <a:lstStyle/>
          <a:p>
            <a:endParaRPr lang="en-IN"/>
          </a:p>
        </p:txBody>
      </p:sp>
      <p:sp>
        <p:nvSpPr>
          <p:cNvPr id="42" name="Text 40"/>
          <p:cNvSpPr/>
          <p:nvPr/>
        </p:nvSpPr>
        <p:spPr>
          <a:xfrm>
            <a:off x="3227832" y="2999232"/>
            <a:ext cx="2761488" cy="54864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43" name="Shape 41"/>
          <p:cNvSpPr/>
          <p:nvPr/>
        </p:nvSpPr>
        <p:spPr>
          <a:xfrm>
            <a:off x="3410712" y="3584448"/>
            <a:ext cx="2395728" cy="36576"/>
          </a:xfrm>
          <a:prstGeom prst="rect">
            <a:avLst/>
          </a:prstGeom>
          <a:solidFill>
            <a:srgbClr val="D1DCE8"/>
          </a:solidFill>
          <a:ln/>
        </p:spPr>
        <p:txBody>
          <a:bodyPr/>
          <a:lstStyle/>
          <a:p>
            <a:endParaRPr lang="en-IN"/>
          </a:p>
        </p:txBody>
      </p:sp>
      <p:sp>
        <p:nvSpPr>
          <p:cNvPr id="44" name="Text 42"/>
          <p:cNvSpPr/>
          <p:nvPr/>
        </p:nvSpPr>
        <p:spPr>
          <a:xfrm>
            <a:off x="3337560" y="3657600"/>
            <a:ext cx="2542032" cy="384048"/>
          </a:xfrm>
          <a:prstGeom prst="rect">
            <a:avLst/>
          </a:prstGeom>
          <a:noFill/>
          <a:ln/>
        </p:spPr>
        <p:txBody>
          <a:bodyPr wrap="square" rtlCol="0" anchor="ctr"/>
          <a:lstStyle/>
          <a:p>
            <a:pPr marL="0" indent="0" algn="ctr">
              <a:buNone/>
            </a:pPr>
            <a:r>
              <a:rPr lang="en-US" sz="1300" b="1" dirty="0">
                <a:solidFill>
                  <a:srgbClr val="0F4C8A"/>
                </a:solidFill>
                <a:latin typeface="Cambria" pitchFamily="34" charset="0"/>
                <a:ea typeface="Cambria" pitchFamily="34" charset="-122"/>
                <a:cs typeface="Cambria" pitchFamily="34" charset="-120"/>
              </a:rPr>
              <a:t>Human-in-the-Loop (HITL)</a:t>
            </a:r>
            <a:endParaRPr lang="en-US" sz="1300" dirty="0"/>
          </a:p>
        </p:txBody>
      </p:sp>
      <p:sp>
        <p:nvSpPr>
          <p:cNvPr id="45" name="Text 43"/>
          <p:cNvSpPr/>
          <p:nvPr/>
        </p:nvSpPr>
        <p:spPr>
          <a:xfrm>
            <a:off x="3355848" y="4059936"/>
            <a:ext cx="2505456" cy="658368"/>
          </a:xfrm>
          <a:prstGeom prst="rect">
            <a:avLst/>
          </a:prstGeom>
          <a:noFill/>
          <a:ln/>
        </p:spPr>
        <p:txBody>
          <a:bodyPr wrap="square" rtlCol="0" anchor="ctr"/>
          <a:lstStyle/>
          <a:p>
            <a:pPr marL="0" indent="0">
              <a:buNone/>
            </a:pPr>
            <a:r>
              <a:rPr lang="en-US" sz="1050" dirty="0">
                <a:solidFill>
                  <a:srgbClr val="6B7C93"/>
                </a:solidFill>
                <a:latin typeface="Calibri" pitchFamily="34" charset="0"/>
                <a:ea typeface="Calibri" pitchFamily="34" charset="-122"/>
                <a:cs typeface="Calibri" pitchFamily="34" charset="-120"/>
              </a:rPr>
              <a:t>Requires human approval for sensitive actions. Provides strong oversight but introduces unacceptable latency and is not scalable for high-throughput agentic systems.</a:t>
            </a:r>
            <a:endParaRPr lang="en-US" sz="1050" dirty="0"/>
          </a:p>
        </p:txBody>
      </p:sp>
      <p:sp>
        <p:nvSpPr>
          <p:cNvPr id="47" name="Text 45"/>
          <p:cNvSpPr/>
          <p:nvPr/>
        </p:nvSpPr>
        <p:spPr>
          <a:xfrm>
            <a:off x="3332988" y="4745736"/>
            <a:ext cx="2468880" cy="201168"/>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05  Proposed Architecture — Overview</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71323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713232"/>
          </a:xfrm>
          <a:prstGeom prst="rect">
            <a:avLst/>
          </a:prstGeom>
          <a:solidFill>
            <a:schemeClr val="tx1"/>
          </a:solidFill>
          <a:ln w="12700">
            <a:solidFill>
              <a:schemeClr val="tx1"/>
            </a:solidFill>
            <a:prstDash val="solid"/>
          </a:ln>
        </p:spPr>
        <p:txBody>
          <a:bodyPr/>
          <a:lstStyle/>
          <a:p>
            <a:endParaRPr lang="en-IN"/>
          </a:p>
        </p:txBody>
      </p:sp>
      <p:sp>
        <p:nvSpPr>
          <p:cNvPr id="10" name="Text 8"/>
          <p:cNvSpPr/>
          <p:nvPr/>
        </p:nvSpPr>
        <p:spPr>
          <a:xfrm>
            <a:off x="502920" y="841248"/>
            <a:ext cx="8211312" cy="640080"/>
          </a:xfrm>
          <a:prstGeom prst="rect">
            <a:avLst/>
          </a:prstGeom>
          <a:noFill/>
          <a:ln/>
        </p:spPr>
        <p:txBody>
          <a:bodyPr wrap="square" rtlCol="0" anchor="ctr"/>
          <a:lstStyle/>
          <a:p>
            <a:pPr marL="0" indent="0">
              <a:buNone/>
            </a:pPr>
            <a:r>
              <a:rPr lang="en-US" sz="1250" dirty="0">
                <a:solidFill>
                  <a:srgbClr val="2E4057"/>
                </a:solidFill>
                <a:latin typeface="Calibri" pitchFamily="34" charset="0"/>
                <a:ea typeface="Calibri" pitchFamily="34" charset="-122"/>
                <a:cs typeface="Calibri" pitchFamily="34" charset="-120"/>
              </a:rPr>
              <a:t>A layered defence architecture comprising four runtime security components operating in sequence, designed to address the semantic, provenance, consensus, and hallucination gaps identified in existing methods.</a:t>
            </a:r>
            <a:endParaRPr lang="en-US" sz="1250" dirty="0"/>
          </a:p>
        </p:txBody>
      </p:sp>
      <p:sp>
        <p:nvSpPr>
          <p:cNvPr id="11" name="Shape 9"/>
          <p:cNvSpPr/>
          <p:nvPr/>
        </p:nvSpPr>
        <p:spPr>
          <a:xfrm>
            <a:off x="320040" y="1664208"/>
            <a:ext cx="8503920" cy="69494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1664208"/>
            <a:ext cx="658368" cy="694944"/>
          </a:xfrm>
          <a:prstGeom prst="rect">
            <a:avLst/>
          </a:prstGeom>
          <a:solidFill>
            <a:schemeClr val="tx1"/>
          </a:solidFill>
          <a:ln w="12700">
            <a:solidFill>
              <a:srgbClr val="1A6EBD"/>
            </a:solidFill>
            <a:prstDash val="solid"/>
          </a:ln>
        </p:spPr>
        <p:txBody>
          <a:bodyPr/>
          <a:lstStyle/>
          <a:p>
            <a:endParaRPr lang="en-IN"/>
          </a:p>
        </p:txBody>
      </p:sp>
      <p:sp>
        <p:nvSpPr>
          <p:cNvPr id="13" name="Text 11"/>
          <p:cNvSpPr/>
          <p:nvPr/>
        </p:nvSpPr>
        <p:spPr>
          <a:xfrm>
            <a:off x="320040" y="1664208"/>
            <a:ext cx="658368" cy="69494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L1</a:t>
            </a:r>
            <a:endParaRPr lang="en-US" sz="1500" dirty="0"/>
          </a:p>
        </p:txBody>
      </p:sp>
      <p:sp>
        <p:nvSpPr>
          <p:cNvPr id="14" name="Text 12"/>
          <p:cNvSpPr/>
          <p:nvPr/>
        </p:nvSpPr>
        <p:spPr>
          <a:xfrm>
            <a:off x="1078992" y="1719072"/>
            <a:ext cx="5943600" cy="347472"/>
          </a:xfrm>
          <a:prstGeom prst="rect">
            <a:avLst/>
          </a:prstGeom>
          <a:noFill/>
          <a:ln/>
        </p:spPr>
        <p:txBody>
          <a:bodyPr wrap="square" rtlCol="0" anchor="ctr"/>
          <a:lstStyle/>
          <a:p>
            <a:pPr marL="0" indent="0">
              <a:buNone/>
            </a:pPr>
            <a:r>
              <a:rPr lang="en-US" sz="1400" b="1" dirty="0">
                <a:solidFill>
                  <a:srgbClr val="1A2B3C"/>
                </a:solidFill>
                <a:latin typeface="Cambria" pitchFamily="34" charset="0"/>
                <a:ea typeface="Cambria" pitchFamily="34" charset="-122"/>
                <a:cs typeface="Cambria" pitchFamily="34" charset="-120"/>
              </a:rPr>
              <a:t>Semantic Policy Enforcement Layer (SPEL)</a:t>
            </a:r>
            <a:endParaRPr lang="en-US" sz="1400" dirty="0"/>
          </a:p>
        </p:txBody>
      </p:sp>
      <p:sp>
        <p:nvSpPr>
          <p:cNvPr id="15" name="Text 13"/>
          <p:cNvSpPr/>
          <p:nvPr/>
        </p:nvSpPr>
        <p:spPr>
          <a:xfrm>
            <a:off x="1078992" y="2066544"/>
            <a:ext cx="5943600" cy="25603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Detects semantic drift + verifies intent via an LLM judge</a:t>
            </a:r>
            <a:endParaRPr lang="en-US" sz="1100" dirty="0"/>
          </a:p>
        </p:txBody>
      </p:sp>
      <p:sp>
        <p:nvSpPr>
          <p:cNvPr id="17" name="Text 15"/>
          <p:cNvSpPr/>
          <p:nvPr/>
        </p:nvSpPr>
        <p:spPr>
          <a:xfrm>
            <a:off x="8138160" y="1810512"/>
            <a:ext cx="594360" cy="402336"/>
          </a:xfrm>
          <a:prstGeom prst="rect">
            <a:avLst/>
          </a:prstGeom>
          <a:noFill/>
          <a:ln/>
        </p:spPr>
        <p:txBody>
          <a:bodyPr wrap="square" rtlCol="0" anchor="ctr"/>
          <a:lstStyle/>
          <a:p>
            <a:pPr marL="0" indent="0" algn="ctr">
              <a:buNone/>
            </a:pPr>
            <a:endParaRPr lang="en-US" sz="1800" dirty="0"/>
          </a:p>
        </p:txBody>
      </p:sp>
      <p:sp>
        <p:nvSpPr>
          <p:cNvPr id="18" name="Shape 16"/>
          <p:cNvSpPr/>
          <p:nvPr/>
        </p:nvSpPr>
        <p:spPr>
          <a:xfrm>
            <a:off x="320040" y="2432304"/>
            <a:ext cx="8503920" cy="69494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9" name="Shape 17"/>
          <p:cNvSpPr/>
          <p:nvPr/>
        </p:nvSpPr>
        <p:spPr>
          <a:xfrm>
            <a:off x="320040" y="2432304"/>
            <a:ext cx="658368" cy="694944"/>
          </a:xfrm>
          <a:prstGeom prst="rect">
            <a:avLst/>
          </a:prstGeom>
          <a:solidFill>
            <a:srgbClr val="1A7A4A"/>
          </a:solidFill>
          <a:ln w="12700">
            <a:solidFill>
              <a:srgbClr val="1A7A4A"/>
            </a:solidFill>
            <a:prstDash val="solid"/>
          </a:ln>
        </p:spPr>
        <p:txBody>
          <a:bodyPr/>
          <a:lstStyle/>
          <a:p>
            <a:endParaRPr lang="en-IN"/>
          </a:p>
        </p:txBody>
      </p:sp>
      <p:sp>
        <p:nvSpPr>
          <p:cNvPr id="20" name="Text 18"/>
          <p:cNvSpPr/>
          <p:nvPr/>
        </p:nvSpPr>
        <p:spPr>
          <a:xfrm>
            <a:off x="320040" y="2432304"/>
            <a:ext cx="658368" cy="694944"/>
          </a:xfrm>
          <a:prstGeom prst="rect">
            <a:avLst/>
          </a:prstGeom>
          <a:solidFill>
            <a:schemeClr val="tx1"/>
          </a:solid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L2</a:t>
            </a:r>
            <a:endParaRPr lang="en-US" sz="1500" dirty="0"/>
          </a:p>
        </p:txBody>
      </p:sp>
      <p:sp>
        <p:nvSpPr>
          <p:cNvPr id="21" name="Text 19"/>
          <p:cNvSpPr/>
          <p:nvPr/>
        </p:nvSpPr>
        <p:spPr>
          <a:xfrm>
            <a:off x="1078992" y="2487168"/>
            <a:ext cx="5943600" cy="347472"/>
          </a:xfrm>
          <a:prstGeom prst="rect">
            <a:avLst/>
          </a:prstGeom>
          <a:noFill/>
          <a:ln/>
        </p:spPr>
        <p:txBody>
          <a:bodyPr wrap="square" rtlCol="0" anchor="ctr"/>
          <a:lstStyle/>
          <a:p>
            <a:pPr marL="0" indent="0">
              <a:buNone/>
            </a:pPr>
            <a:r>
              <a:rPr lang="en-US" sz="1400" b="1" dirty="0">
                <a:solidFill>
                  <a:srgbClr val="1A2B3C"/>
                </a:solidFill>
                <a:latin typeface="Cambria" pitchFamily="34" charset="0"/>
                <a:ea typeface="Cambria" pitchFamily="34" charset="-122"/>
                <a:cs typeface="Cambria" pitchFamily="34" charset="-120"/>
              </a:rPr>
              <a:t>Provenance-Aware Policy Enforcement (PAPE)</a:t>
            </a:r>
            <a:endParaRPr lang="en-US" sz="1400" dirty="0"/>
          </a:p>
        </p:txBody>
      </p:sp>
      <p:sp>
        <p:nvSpPr>
          <p:cNvPr id="22" name="Text 20"/>
          <p:cNvSpPr/>
          <p:nvPr/>
        </p:nvSpPr>
        <p:spPr>
          <a:xfrm>
            <a:off x="1078992" y="2834640"/>
            <a:ext cx="5943600" cy="25603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Tags data origin, assigns trust scores, gates actions by source authority</a:t>
            </a:r>
            <a:endParaRPr lang="en-US" sz="1100" dirty="0"/>
          </a:p>
        </p:txBody>
      </p:sp>
      <p:sp>
        <p:nvSpPr>
          <p:cNvPr id="25" name="Shape 23"/>
          <p:cNvSpPr/>
          <p:nvPr/>
        </p:nvSpPr>
        <p:spPr>
          <a:xfrm>
            <a:off x="320040" y="3200400"/>
            <a:ext cx="8503920" cy="69494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6" name="Shape 24"/>
          <p:cNvSpPr/>
          <p:nvPr/>
        </p:nvSpPr>
        <p:spPr>
          <a:xfrm>
            <a:off x="320040" y="3200400"/>
            <a:ext cx="658368" cy="694944"/>
          </a:xfrm>
          <a:prstGeom prst="rect">
            <a:avLst/>
          </a:prstGeom>
          <a:solidFill>
            <a:schemeClr val="tx1"/>
          </a:solidFill>
          <a:ln w="12700">
            <a:solidFill>
              <a:srgbClr val="B06000"/>
            </a:solidFill>
            <a:prstDash val="solid"/>
          </a:ln>
        </p:spPr>
        <p:txBody>
          <a:bodyPr/>
          <a:lstStyle/>
          <a:p>
            <a:endParaRPr lang="en-IN"/>
          </a:p>
        </p:txBody>
      </p:sp>
      <p:sp>
        <p:nvSpPr>
          <p:cNvPr id="27" name="Text 25"/>
          <p:cNvSpPr/>
          <p:nvPr/>
        </p:nvSpPr>
        <p:spPr>
          <a:xfrm>
            <a:off x="320040" y="3200400"/>
            <a:ext cx="658368" cy="69494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L3</a:t>
            </a:r>
            <a:endParaRPr lang="en-US" sz="1500" dirty="0"/>
          </a:p>
        </p:txBody>
      </p:sp>
      <p:sp>
        <p:nvSpPr>
          <p:cNvPr id="28" name="Text 26"/>
          <p:cNvSpPr/>
          <p:nvPr/>
        </p:nvSpPr>
        <p:spPr>
          <a:xfrm>
            <a:off x="1078992" y="3255264"/>
            <a:ext cx="5943600" cy="347472"/>
          </a:xfrm>
          <a:prstGeom prst="rect">
            <a:avLst/>
          </a:prstGeom>
          <a:noFill/>
          <a:ln/>
        </p:spPr>
        <p:txBody>
          <a:bodyPr wrap="square" rtlCol="0" anchor="ctr"/>
          <a:lstStyle/>
          <a:p>
            <a:pPr marL="0" indent="0">
              <a:buNone/>
            </a:pPr>
            <a:r>
              <a:rPr lang="en-US" sz="1400" b="1" dirty="0">
                <a:solidFill>
                  <a:srgbClr val="1A2B3C"/>
                </a:solidFill>
                <a:latin typeface="Cambria" pitchFamily="34" charset="0"/>
                <a:ea typeface="Cambria" pitchFamily="34" charset="-122"/>
                <a:cs typeface="Cambria" pitchFamily="34" charset="-120"/>
              </a:rPr>
              <a:t>Cross-Agent Consensus (CAC)</a:t>
            </a:r>
            <a:endParaRPr lang="en-US" sz="1400" dirty="0"/>
          </a:p>
        </p:txBody>
      </p:sp>
      <p:sp>
        <p:nvSpPr>
          <p:cNvPr id="29" name="Text 27"/>
          <p:cNvSpPr/>
          <p:nvPr/>
        </p:nvSpPr>
        <p:spPr>
          <a:xfrm>
            <a:off x="1078992" y="3602736"/>
            <a:ext cx="5943600" cy="25603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Byzantine Fault Tolerant multi-agent voting before execution</a:t>
            </a:r>
            <a:endParaRPr lang="en-US" sz="1100" dirty="0"/>
          </a:p>
        </p:txBody>
      </p:sp>
      <p:sp>
        <p:nvSpPr>
          <p:cNvPr id="31" name="Text 29"/>
          <p:cNvSpPr/>
          <p:nvPr/>
        </p:nvSpPr>
        <p:spPr>
          <a:xfrm>
            <a:off x="8138160" y="3346704"/>
            <a:ext cx="594360" cy="402336"/>
          </a:xfrm>
          <a:prstGeom prst="rect">
            <a:avLst/>
          </a:prstGeom>
          <a:noFill/>
          <a:ln/>
        </p:spPr>
        <p:txBody>
          <a:bodyPr wrap="square" rtlCol="0" anchor="ctr"/>
          <a:lstStyle/>
          <a:p>
            <a:pPr marL="0" indent="0" algn="ctr">
              <a:buNone/>
            </a:pPr>
            <a:endParaRPr lang="en-US" sz="1800" dirty="0"/>
          </a:p>
        </p:txBody>
      </p:sp>
      <p:sp>
        <p:nvSpPr>
          <p:cNvPr id="32" name="Shape 30"/>
          <p:cNvSpPr/>
          <p:nvPr/>
        </p:nvSpPr>
        <p:spPr>
          <a:xfrm>
            <a:off x="320040" y="3968496"/>
            <a:ext cx="8503920" cy="69494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3" name="Shape 31"/>
          <p:cNvSpPr/>
          <p:nvPr/>
        </p:nvSpPr>
        <p:spPr>
          <a:xfrm>
            <a:off x="320040" y="3968496"/>
            <a:ext cx="658368" cy="694944"/>
          </a:xfrm>
          <a:prstGeom prst="rect">
            <a:avLst/>
          </a:prstGeom>
          <a:solidFill>
            <a:schemeClr val="tx1"/>
          </a:solidFill>
          <a:ln w="12700">
            <a:solidFill>
              <a:srgbClr val="B91C1C"/>
            </a:solidFill>
            <a:prstDash val="solid"/>
          </a:ln>
        </p:spPr>
        <p:txBody>
          <a:bodyPr/>
          <a:lstStyle/>
          <a:p>
            <a:endParaRPr lang="en-IN"/>
          </a:p>
        </p:txBody>
      </p:sp>
      <p:sp>
        <p:nvSpPr>
          <p:cNvPr id="34" name="Text 32"/>
          <p:cNvSpPr/>
          <p:nvPr/>
        </p:nvSpPr>
        <p:spPr>
          <a:xfrm>
            <a:off x="320040" y="3968496"/>
            <a:ext cx="658368" cy="69494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L4</a:t>
            </a:r>
            <a:endParaRPr lang="en-US" sz="1500" dirty="0"/>
          </a:p>
        </p:txBody>
      </p:sp>
      <p:sp>
        <p:nvSpPr>
          <p:cNvPr id="35" name="Text 33"/>
          <p:cNvSpPr/>
          <p:nvPr/>
        </p:nvSpPr>
        <p:spPr>
          <a:xfrm>
            <a:off x="1078992" y="4023360"/>
            <a:ext cx="5943600" cy="347472"/>
          </a:xfrm>
          <a:prstGeom prst="rect">
            <a:avLst/>
          </a:prstGeom>
          <a:noFill/>
          <a:ln/>
        </p:spPr>
        <p:txBody>
          <a:bodyPr wrap="square" rtlCol="0" anchor="ctr"/>
          <a:lstStyle/>
          <a:p>
            <a:pPr marL="0" indent="0">
              <a:buNone/>
            </a:pPr>
            <a:r>
              <a:rPr lang="en-US" sz="1400" b="1" dirty="0">
                <a:solidFill>
                  <a:srgbClr val="1A2B3C"/>
                </a:solidFill>
                <a:latin typeface="Cambria" pitchFamily="34" charset="0"/>
                <a:ea typeface="Cambria" pitchFamily="34" charset="-122"/>
                <a:cs typeface="Cambria" pitchFamily="34" charset="-120"/>
              </a:rPr>
              <a:t>Weighted Hallucination Score (WHS)</a:t>
            </a:r>
            <a:endParaRPr lang="en-US" sz="1400" dirty="0"/>
          </a:p>
        </p:txBody>
      </p:sp>
      <p:sp>
        <p:nvSpPr>
          <p:cNvPr id="36" name="Text 34"/>
          <p:cNvSpPr/>
          <p:nvPr/>
        </p:nvSpPr>
        <p:spPr>
          <a:xfrm>
            <a:off x="1078992" y="4370832"/>
            <a:ext cx="5943600" cy="25603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Quantifies wrongness and danger level of AI-generated claims before acting</a:t>
            </a:r>
            <a:endParaRPr lang="en-US" sz="1100" dirty="0"/>
          </a:p>
        </p:txBody>
      </p:sp>
      <p:sp>
        <p:nvSpPr>
          <p:cNvPr id="38" name="Text 36"/>
          <p:cNvSpPr/>
          <p:nvPr/>
        </p:nvSpPr>
        <p:spPr>
          <a:xfrm>
            <a:off x="8138160" y="4114800"/>
            <a:ext cx="594360" cy="402336"/>
          </a:xfrm>
          <a:prstGeom prst="rect">
            <a:avLst/>
          </a:prstGeom>
          <a:noFill/>
          <a:ln/>
        </p:spPr>
        <p:txBody>
          <a:bodyPr wrap="square" rtlCol="0" anchor="ctr"/>
          <a:lstStyle/>
          <a:p>
            <a:pPr marL="0" indent="0" algn="ctr">
              <a:buNone/>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06  Layer 1: Semantic Policy Enforcement Layer (SPEL)</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4251960" cy="251460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2514600"/>
          </a:xfrm>
          <a:prstGeom prst="rect">
            <a:avLst/>
          </a:prstGeom>
          <a:solidFill>
            <a:srgbClr val="1A6EBD"/>
          </a:solidFill>
          <a:ln w="12700">
            <a:solidFill>
              <a:srgbClr val="1A6EBD"/>
            </a:solidFill>
            <a:prstDash val="solid"/>
          </a:ln>
        </p:spPr>
        <p:txBody>
          <a:bodyPr/>
          <a:lstStyle/>
          <a:p>
            <a:endParaRPr lang="en-IN"/>
          </a:p>
        </p:txBody>
      </p:sp>
      <p:sp>
        <p:nvSpPr>
          <p:cNvPr id="10" name="Shape 8"/>
          <p:cNvSpPr/>
          <p:nvPr/>
        </p:nvSpPr>
        <p:spPr>
          <a:xfrm>
            <a:off x="448056" y="896112"/>
            <a:ext cx="658368" cy="658368"/>
          </a:xfrm>
          <a:prstGeom prst="rect">
            <a:avLst/>
          </a:prstGeom>
          <a:solidFill>
            <a:srgbClr val="D6E6F7"/>
          </a:solidFill>
          <a:ln w="12700">
            <a:solidFill>
              <a:srgbClr val="1A6EBD"/>
            </a:solidFill>
            <a:prstDash val="solid"/>
          </a:ln>
        </p:spPr>
        <p:txBody>
          <a:bodyPr/>
          <a:lstStyle/>
          <a:p>
            <a:endParaRPr lang="en-IN"/>
          </a:p>
        </p:txBody>
      </p:sp>
      <p:sp>
        <p:nvSpPr>
          <p:cNvPr id="11" name="Text 9"/>
          <p:cNvSpPr/>
          <p:nvPr/>
        </p:nvSpPr>
        <p:spPr>
          <a:xfrm>
            <a:off x="448056" y="896112"/>
            <a:ext cx="658368" cy="658368"/>
          </a:xfrm>
          <a:prstGeom prst="rect">
            <a:avLst/>
          </a:prstGeom>
          <a:noFill/>
          <a:ln/>
        </p:spPr>
        <p:txBody>
          <a:bodyPr wrap="square" rtlCol="0" anchor="ctr"/>
          <a:lstStyle/>
          <a:p>
            <a:pPr marL="0" indent="0" algn="ctr">
              <a:buNone/>
            </a:pPr>
            <a:r>
              <a:rPr lang="en-US" sz="1200" b="1" dirty="0">
                <a:solidFill>
                  <a:srgbClr val="0F4C8A"/>
                </a:solidFill>
                <a:latin typeface="Cambria" pitchFamily="34" charset="0"/>
                <a:ea typeface="Cambria" pitchFamily="34" charset="-122"/>
                <a:cs typeface="Cambria" pitchFamily="34" charset="-120"/>
              </a:rPr>
              <a:t>RIV</a:t>
            </a:r>
            <a:endParaRPr lang="en-US" sz="1200" dirty="0"/>
          </a:p>
        </p:txBody>
      </p:sp>
      <p:sp>
        <p:nvSpPr>
          <p:cNvPr id="12" name="Text 10"/>
          <p:cNvSpPr/>
          <p:nvPr/>
        </p:nvSpPr>
        <p:spPr>
          <a:xfrm>
            <a:off x="1234440" y="896112"/>
            <a:ext cx="3291840" cy="658368"/>
          </a:xfrm>
          <a:prstGeom prst="rect">
            <a:avLst/>
          </a:prstGeom>
          <a:noFill/>
          <a:ln/>
        </p:spPr>
        <p:txBody>
          <a:bodyPr wrap="square" rtlCol="0" anchor="ctr"/>
          <a:lstStyle/>
          <a:p>
            <a:pPr marL="0" indent="0">
              <a:buNone/>
            </a:pPr>
            <a:r>
              <a:rPr lang="en-US" sz="1350" b="1" dirty="0">
                <a:solidFill>
                  <a:srgbClr val="0F4C8A"/>
                </a:solidFill>
                <a:latin typeface="Cambria" pitchFamily="34" charset="0"/>
                <a:ea typeface="Cambria" pitchFamily="34" charset="-122"/>
                <a:cs typeface="Cambria" pitchFamily="34" charset="-120"/>
              </a:rPr>
              <a:t>Recursive Intent Verification</a:t>
            </a:r>
            <a:endParaRPr lang="en-US" sz="1350" dirty="0"/>
          </a:p>
        </p:txBody>
      </p:sp>
      <p:sp>
        <p:nvSpPr>
          <p:cNvPr id="13" name="Shape 11"/>
          <p:cNvSpPr/>
          <p:nvPr/>
        </p:nvSpPr>
        <p:spPr>
          <a:xfrm>
            <a:off x="448056" y="1591056"/>
            <a:ext cx="4005072" cy="36576"/>
          </a:xfrm>
          <a:prstGeom prst="rect">
            <a:avLst/>
          </a:prstGeom>
          <a:solidFill>
            <a:srgbClr val="D1DCE8"/>
          </a:solidFill>
          <a:ln/>
        </p:spPr>
        <p:txBody>
          <a:bodyPr/>
          <a:lstStyle/>
          <a:p>
            <a:endParaRPr lang="en-IN"/>
          </a:p>
        </p:txBody>
      </p:sp>
      <p:sp>
        <p:nvSpPr>
          <p:cNvPr id="14" name="Text 12"/>
          <p:cNvSpPr/>
          <p:nvPr/>
        </p:nvSpPr>
        <p:spPr>
          <a:xfrm>
            <a:off x="448056" y="1664208"/>
            <a:ext cx="4005072" cy="1298448"/>
          </a:xfrm>
          <a:prstGeom prst="rect">
            <a:avLst/>
          </a:prstGeom>
          <a:noFill/>
          <a:ln/>
        </p:spPr>
        <p:txBody>
          <a:bodyPr wrap="square" rtlCol="0" anchor="ctr"/>
          <a:lstStyle/>
          <a:p>
            <a:pPr marL="0" indent="0">
              <a:buNone/>
            </a:pPr>
            <a:r>
              <a:rPr lang="en-US" sz="1200" dirty="0">
                <a:solidFill>
                  <a:srgbClr val="2E4057"/>
                </a:solidFill>
                <a:latin typeface="Calibri" pitchFamily="34" charset="0"/>
                <a:ea typeface="Calibri" pitchFamily="34" charset="-122"/>
                <a:cs typeface="Calibri" pitchFamily="34" charset="-120"/>
              </a:rPr>
              <a:t>Recursively analyses a request against its stated purpose. Detects when the true intent diverges from the declared context — e.g., a user claiming to want 'Admissions info' while actually attempting code execution.</a:t>
            </a:r>
            <a:endParaRPr lang="en-US" sz="1200" dirty="0"/>
          </a:p>
        </p:txBody>
      </p:sp>
      <p:sp>
        <p:nvSpPr>
          <p:cNvPr id="15" name="Shape 13"/>
          <p:cNvSpPr/>
          <p:nvPr/>
        </p:nvSpPr>
        <p:spPr>
          <a:xfrm>
            <a:off x="448056" y="2990088"/>
            <a:ext cx="4005072" cy="347472"/>
          </a:xfrm>
          <a:prstGeom prst="rect">
            <a:avLst/>
          </a:prstGeom>
          <a:solidFill>
            <a:srgbClr val="FFF3E0"/>
          </a:solidFill>
          <a:ln w="10160">
            <a:solidFill>
              <a:srgbClr val="B06000"/>
            </a:solidFill>
            <a:prstDash val="solid"/>
          </a:ln>
        </p:spPr>
        <p:txBody>
          <a:bodyPr/>
          <a:lstStyle/>
          <a:p>
            <a:endParaRPr lang="en-IN"/>
          </a:p>
        </p:txBody>
      </p:sp>
      <p:sp>
        <p:nvSpPr>
          <p:cNvPr id="16" name="Text 14"/>
          <p:cNvSpPr/>
          <p:nvPr/>
        </p:nvSpPr>
        <p:spPr>
          <a:xfrm>
            <a:off x="484632" y="2990088"/>
            <a:ext cx="3931920" cy="347472"/>
          </a:xfrm>
          <a:prstGeom prst="rect">
            <a:avLst/>
          </a:prstGeom>
          <a:solidFill>
            <a:schemeClr val="bg1"/>
          </a:solidFill>
          <a:ln/>
        </p:spPr>
        <p:txBody>
          <a:bodyPr wrap="square" rtlCol="0" anchor="ctr"/>
          <a:lstStyle/>
          <a:p>
            <a:pPr marL="0" indent="0">
              <a:buNone/>
            </a:pPr>
            <a:r>
              <a:rPr lang="en-US" sz="1000" i="1" dirty="0">
                <a:solidFill>
                  <a:srgbClr val="B06000"/>
                </a:solidFill>
                <a:latin typeface="Calibri" pitchFamily="34" charset="0"/>
                <a:ea typeface="Calibri" pitchFamily="34" charset="-122"/>
                <a:cs typeface="Calibri" pitchFamily="34" charset="-120"/>
              </a:rPr>
              <a:t>  User claims: 'Admissions details'  →  RIV detects: Code execution attempt</a:t>
            </a:r>
            <a:endParaRPr lang="en-US" sz="1000" dirty="0"/>
          </a:p>
        </p:txBody>
      </p:sp>
      <p:sp>
        <p:nvSpPr>
          <p:cNvPr id="17" name="Shape 15"/>
          <p:cNvSpPr/>
          <p:nvPr/>
        </p:nvSpPr>
        <p:spPr>
          <a:xfrm>
            <a:off x="4727448" y="804672"/>
            <a:ext cx="4251960" cy="251460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8" name="Shape 16"/>
          <p:cNvSpPr/>
          <p:nvPr/>
        </p:nvSpPr>
        <p:spPr>
          <a:xfrm>
            <a:off x="4727448" y="804672"/>
            <a:ext cx="64008" cy="2514600"/>
          </a:xfrm>
          <a:prstGeom prst="rect">
            <a:avLst/>
          </a:prstGeom>
          <a:solidFill>
            <a:srgbClr val="1A6EBD"/>
          </a:solidFill>
          <a:ln w="12700">
            <a:solidFill>
              <a:srgbClr val="1A6EBD"/>
            </a:solidFill>
            <a:prstDash val="solid"/>
          </a:ln>
        </p:spPr>
        <p:txBody>
          <a:bodyPr/>
          <a:lstStyle/>
          <a:p>
            <a:endParaRPr lang="en-IN"/>
          </a:p>
        </p:txBody>
      </p:sp>
      <p:sp>
        <p:nvSpPr>
          <p:cNvPr id="19" name="Shape 17"/>
          <p:cNvSpPr/>
          <p:nvPr/>
        </p:nvSpPr>
        <p:spPr>
          <a:xfrm>
            <a:off x="4855464" y="896112"/>
            <a:ext cx="658368" cy="658368"/>
          </a:xfrm>
          <a:prstGeom prst="rect">
            <a:avLst/>
          </a:prstGeom>
          <a:solidFill>
            <a:srgbClr val="D6E6F7"/>
          </a:solidFill>
          <a:ln w="12700">
            <a:solidFill>
              <a:srgbClr val="1A6EBD"/>
            </a:solidFill>
            <a:prstDash val="solid"/>
          </a:ln>
        </p:spPr>
        <p:txBody>
          <a:bodyPr/>
          <a:lstStyle/>
          <a:p>
            <a:endParaRPr lang="en-IN"/>
          </a:p>
        </p:txBody>
      </p:sp>
      <p:sp>
        <p:nvSpPr>
          <p:cNvPr id="20" name="Text 18"/>
          <p:cNvSpPr/>
          <p:nvPr/>
        </p:nvSpPr>
        <p:spPr>
          <a:xfrm>
            <a:off x="4855464" y="896112"/>
            <a:ext cx="658368" cy="658368"/>
          </a:xfrm>
          <a:prstGeom prst="rect">
            <a:avLst/>
          </a:prstGeom>
          <a:noFill/>
          <a:ln/>
        </p:spPr>
        <p:txBody>
          <a:bodyPr wrap="square" rtlCol="0" anchor="ctr"/>
          <a:lstStyle/>
          <a:p>
            <a:pPr marL="0" indent="0" algn="ctr">
              <a:buNone/>
            </a:pPr>
            <a:r>
              <a:rPr lang="en-US" sz="1200" b="1" dirty="0">
                <a:solidFill>
                  <a:srgbClr val="0F4C8A"/>
                </a:solidFill>
                <a:latin typeface="Cambria" pitchFamily="34" charset="0"/>
                <a:ea typeface="Cambria" pitchFamily="34" charset="-122"/>
                <a:cs typeface="Cambria" pitchFamily="34" charset="-120"/>
              </a:rPr>
              <a:t>SDD</a:t>
            </a:r>
            <a:endParaRPr lang="en-US" sz="1200" dirty="0"/>
          </a:p>
        </p:txBody>
      </p:sp>
      <p:sp>
        <p:nvSpPr>
          <p:cNvPr id="21" name="Text 19"/>
          <p:cNvSpPr/>
          <p:nvPr/>
        </p:nvSpPr>
        <p:spPr>
          <a:xfrm>
            <a:off x="5641848" y="896112"/>
            <a:ext cx="3291840" cy="658368"/>
          </a:xfrm>
          <a:prstGeom prst="rect">
            <a:avLst/>
          </a:prstGeom>
          <a:noFill/>
          <a:ln/>
        </p:spPr>
        <p:txBody>
          <a:bodyPr wrap="square" rtlCol="0" anchor="ctr"/>
          <a:lstStyle/>
          <a:p>
            <a:pPr marL="0" indent="0">
              <a:buNone/>
            </a:pPr>
            <a:r>
              <a:rPr lang="en-US" sz="1350" b="1" dirty="0">
                <a:solidFill>
                  <a:srgbClr val="0F4C8A"/>
                </a:solidFill>
                <a:latin typeface="Cambria" pitchFamily="34" charset="0"/>
                <a:ea typeface="Cambria" pitchFamily="34" charset="-122"/>
                <a:cs typeface="Cambria" pitchFamily="34" charset="-120"/>
              </a:rPr>
              <a:t>Semantic Drift Detection</a:t>
            </a:r>
            <a:endParaRPr lang="en-US" sz="1350" dirty="0"/>
          </a:p>
        </p:txBody>
      </p:sp>
      <p:sp>
        <p:nvSpPr>
          <p:cNvPr id="22" name="Shape 20"/>
          <p:cNvSpPr/>
          <p:nvPr/>
        </p:nvSpPr>
        <p:spPr>
          <a:xfrm>
            <a:off x="4855464" y="1591056"/>
            <a:ext cx="4005072" cy="36576"/>
          </a:xfrm>
          <a:prstGeom prst="rect">
            <a:avLst/>
          </a:prstGeom>
          <a:solidFill>
            <a:srgbClr val="D1DCE8"/>
          </a:solidFill>
          <a:ln/>
        </p:spPr>
        <p:txBody>
          <a:bodyPr/>
          <a:lstStyle/>
          <a:p>
            <a:endParaRPr lang="en-IN"/>
          </a:p>
        </p:txBody>
      </p:sp>
      <p:sp>
        <p:nvSpPr>
          <p:cNvPr id="23" name="Text 21"/>
          <p:cNvSpPr/>
          <p:nvPr/>
        </p:nvSpPr>
        <p:spPr>
          <a:xfrm>
            <a:off x="4855464" y="1664208"/>
            <a:ext cx="4005072" cy="1298448"/>
          </a:xfrm>
          <a:prstGeom prst="rect">
            <a:avLst/>
          </a:prstGeom>
          <a:noFill/>
          <a:ln/>
        </p:spPr>
        <p:txBody>
          <a:bodyPr wrap="square" rtlCol="0" anchor="ctr"/>
          <a:lstStyle/>
          <a:p>
            <a:pPr marL="0" indent="0">
              <a:buNone/>
            </a:pPr>
            <a:r>
              <a:rPr lang="en-US" sz="1200" dirty="0">
                <a:solidFill>
                  <a:srgbClr val="2E4057"/>
                </a:solidFill>
                <a:latin typeface="Calibri" pitchFamily="34" charset="0"/>
                <a:ea typeface="Calibri" pitchFamily="34" charset="-122"/>
                <a:cs typeface="Calibri" pitchFamily="34" charset="-120"/>
              </a:rPr>
              <a:t>Checks whether the requested action falls within the allowed semantic domain defined in the policy. If an action drifts outside permitted topics, it is flagged for the SPEL judge.</a:t>
            </a:r>
            <a:endParaRPr lang="en-US" sz="1200" dirty="0"/>
          </a:p>
        </p:txBody>
      </p:sp>
      <p:sp>
        <p:nvSpPr>
          <p:cNvPr id="24" name="Shape 22"/>
          <p:cNvSpPr/>
          <p:nvPr/>
        </p:nvSpPr>
        <p:spPr>
          <a:xfrm>
            <a:off x="4855464" y="2990088"/>
            <a:ext cx="4005072" cy="347472"/>
          </a:xfrm>
          <a:prstGeom prst="rect">
            <a:avLst/>
          </a:prstGeom>
          <a:solidFill>
            <a:srgbClr val="FFF3E0"/>
          </a:solidFill>
          <a:ln w="10160">
            <a:solidFill>
              <a:srgbClr val="B06000"/>
            </a:solidFill>
            <a:prstDash val="solid"/>
          </a:ln>
        </p:spPr>
        <p:txBody>
          <a:bodyPr/>
          <a:lstStyle/>
          <a:p>
            <a:endParaRPr lang="en-IN"/>
          </a:p>
        </p:txBody>
      </p:sp>
      <p:sp>
        <p:nvSpPr>
          <p:cNvPr id="25" name="Text 23"/>
          <p:cNvSpPr/>
          <p:nvPr/>
        </p:nvSpPr>
        <p:spPr>
          <a:xfrm>
            <a:off x="4892040" y="2990088"/>
            <a:ext cx="3931920" cy="347472"/>
          </a:xfrm>
          <a:prstGeom prst="rect">
            <a:avLst/>
          </a:prstGeom>
          <a:solidFill>
            <a:schemeClr val="bg1"/>
          </a:solidFill>
          <a:ln/>
        </p:spPr>
        <p:txBody>
          <a:bodyPr wrap="square" rtlCol="0" anchor="ctr"/>
          <a:lstStyle/>
          <a:p>
            <a:pPr marL="0" indent="0">
              <a:buNone/>
            </a:pPr>
            <a:r>
              <a:rPr lang="en-US" sz="1000" i="1" dirty="0">
                <a:solidFill>
                  <a:srgbClr val="B06000"/>
                </a:solidFill>
                <a:latin typeface="Calibri" pitchFamily="34" charset="0"/>
                <a:ea typeface="Calibri" pitchFamily="34" charset="-122"/>
                <a:cs typeface="Calibri" pitchFamily="34" charset="-120"/>
              </a:rPr>
              <a:t>  Code execution ∉ 'Admissions' policy scope  →  DRIFT DETECTED</a:t>
            </a:r>
            <a:endParaRPr lang="en-US" sz="1000" dirty="0"/>
          </a:p>
        </p:txBody>
      </p:sp>
      <p:pic>
        <p:nvPicPr>
          <p:cNvPr id="32" name="Picture 31">
            <a:extLst>
              <a:ext uri="{FF2B5EF4-FFF2-40B4-BE49-F238E27FC236}">
                <a16:creationId xmlns:a16="http://schemas.microsoft.com/office/drawing/2014/main" id="{473C1CF5-1596-B5ED-A6DD-6F30EBE37DDE}"/>
              </a:ext>
            </a:extLst>
          </p:cNvPr>
          <p:cNvPicPr>
            <a:picLocks noChangeAspect="1"/>
          </p:cNvPicPr>
          <p:nvPr/>
        </p:nvPicPr>
        <p:blipFill>
          <a:blip r:embed="rId3"/>
          <a:srcRect l="2133" t="31824" r="1787" b="1"/>
          <a:stretch>
            <a:fillRect/>
          </a:stretch>
        </p:blipFill>
        <p:spPr>
          <a:xfrm>
            <a:off x="448057" y="3813751"/>
            <a:ext cx="6051218" cy="8885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C60FCF-1812-E3A3-A832-DA18D770F865}"/>
              </a:ext>
            </a:extLst>
          </p:cNvPr>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Text 2">
            <a:extLst>
              <a:ext uri="{FF2B5EF4-FFF2-40B4-BE49-F238E27FC236}">
                <a16:creationId xmlns:a16="http://schemas.microsoft.com/office/drawing/2014/main" id="{C457502F-F503-6298-05D4-500F57DECE23}"/>
              </a:ext>
            </a:extLst>
          </p:cNvPr>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06  Layer 1: Semantic Policy Enforcement Layer (SPEL)</a:t>
            </a:r>
            <a:endParaRPr lang="en-US" sz="2200" dirty="0"/>
          </a:p>
        </p:txBody>
      </p:sp>
      <p:pic>
        <p:nvPicPr>
          <p:cNvPr id="5" name="Picture 4">
            <a:extLst>
              <a:ext uri="{FF2B5EF4-FFF2-40B4-BE49-F238E27FC236}">
                <a16:creationId xmlns:a16="http://schemas.microsoft.com/office/drawing/2014/main" id="{2063E2C0-A773-8BA5-6F7F-41DB2EB5E441}"/>
              </a:ext>
            </a:extLst>
          </p:cNvPr>
          <p:cNvPicPr>
            <a:picLocks noChangeAspect="1"/>
          </p:cNvPicPr>
          <p:nvPr/>
        </p:nvPicPr>
        <p:blipFill>
          <a:blip r:embed="rId2"/>
          <a:srcRect l="2285" t="25743" r="2011" b="7449"/>
          <a:stretch>
            <a:fillRect/>
          </a:stretch>
        </p:blipFill>
        <p:spPr>
          <a:xfrm>
            <a:off x="154745" y="982100"/>
            <a:ext cx="6358597" cy="1026942"/>
          </a:xfrm>
          <a:prstGeom prst="rect">
            <a:avLst/>
          </a:prstGeom>
        </p:spPr>
      </p:pic>
      <p:pic>
        <p:nvPicPr>
          <p:cNvPr id="7" name="Picture 6">
            <a:extLst>
              <a:ext uri="{FF2B5EF4-FFF2-40B4-BE49-F238E27FC236}">
                <a16:creationId xmlns:a16="http://schemas.microsoft.com/office/drawing/2014/main" id="{ACD9BED6-8C64-088F-4D00-5EC13A83C76D}"/>
              </a:ext>
            </a:extLst>
          </p:cNvPr>
          <p:cNvPicPr>
            <a:picLocks noChangeAspect="1"/>
          </p:cNvPicPr>
          <p:nvPr/>
        </p:nvPicPr>
        <p:blipFill>
          <a:blip r:embed="rId3"/>
          <a:stretch>
            <a:fillRect/>
          </a:stretch>
        </p:blipFill>
        <p:spPr>
          <a:xfrm>
            <a:off x="154745" y="2165106"/>
            <a:ext cx="6358597" cy="1038370"/>
          </a:xfrm>
          <a:prstGeom prst="rect">
            <a:avLst/>
          </a:prstGeom>
        </p:spPr>
      </p:pic>
      <p:pic>
        <p:nvPicPr>
          <p:cNvPr id="9" name="Picture 8">
            <a:extLst>
              <a:ext uri="{FF2B5EF4-FFF2-40B4-BE49-F238E27FC236}">
                <a16:creationId xmlns:a16="http://schemas.microsoft.com/office/drawing/2014/main" id="{8C43C4FE-22DD-A0AB-2916-984B0282A363}"/>
              </a:ext>
            </a:extLst>
          </p:cNvPr>
          <p:cNvPicPr>
            <a:picLocks noChangeAspect="1"/>
          </p:cNvPicPr>
          <p:nvPr/>
        </p:nvPicPr>
        <p:blipFill>
          <a:blip r:embed="rId4"/>
          <a:stretch>
            <a:fillRect/>
          </a:stretch>
        </p:blipFill>
        <p:spPr>
          <a:xfrm>
            <a:off x="154745" y="3359540"/>
            <a:ext cx="5095318" cy="1186793"/>
          </a:xfrm>
          <a:prstGeom prst="rect">
            <a:avLst/>
          </a:prstGeom>
        </p:spPr>
      </p:pic>
    </p:spTree>
    <p:extLst>
      <p:ext uri="{BB962C8B-B14F-4D97-AF65-F5344CB8AC3E}">
        <p14:creationId xmlns:p14="http://schemas.microsoft.com/office/powerpoint/2010/main" val="322741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07  Layer 2: Provenance-Aware Policy Enforcement (PAPE)</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658368"/>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658368"/>
          </a:xfrm>
          <a:prstGeom prst="rect">
            <a:avLst/>
          </a:prstGeom>
          <a:solidFill>
            <a:srgbClr val="1A7A4A"/>
          </a:solidFill>
          <a:ln w="12700">
            <a:solidFill>
              <a:srgbClr val="1A7A4A"/>
            </a:solidFill>
            <a:prstDash val="solid"/>
          </a:ln>
        </p:spPr>
        <p:txBody>
          <a:bodyPr/>
          <a:lstStyle/>
          <a:p>
            <a:endParaRPr lang="en-IN"/>
          </a:p>
        </p:txBody>
      </p:sp>
      <p:sp>
        <p:nvSpPr>
          <p:cNvPr id="10" name="Text 8"/>
          <p:cNvSpPr/>
          <p:nvPr/>
        </p:nvSpPr>
        <p:spPr>
          <a:xfrm>
            <a:off x="502920" y="841248"/>
            <a:ext cx="8211312" cy="585216"/>
          </a:xfrm>
          <a:prstGeom prst="rect">
            <a:avLst/>
          </a:prstGeom>
          <a:noFill/>
          <a:ln/>
        </p:spPr>
        <p:txBody>
          <a:bodyPr wrap="square" rtlCol="0" anchor="ctr"/>
          <a:lstStyle/>
          <a:p>
            <a:pPr marL="0" indent="0">
              <a:buNone/>
            </a:pPr>
            <a:r>
              <a:rPr lang="en-US" sz="1200" dirty="0">
                <a:solidFill>
                  <a:srgbClr val="2E4057"/>
                </a:solidFill>
                <a:latin typeface="Calibri" pitchFamily="34" charset="0"/>
                <a:ea typeface="Calibri" pitchFamily="34" charset="-122"/>
                <a:cs typeface="Calibri" pitchFamily="34" charset="-120"/>
              </a:rPr>
              <a:t>PAPE controls whether an action is permitted based on the origin, authority, and trustworthiness of information that drove the action not just on what the action is. Inspired by cryptographic provenance tracking frameworks. [Auth0, 2025; Li et al., 2025]</a:t>
            </a:r>
            <a:endParaRPr lang="en-US" sz="1200" dirty="0"/>
          </a:p>
        </p:txBody>
      </p:sp>
      <p:sp>
        <p:nvSpPr>
          <p:cNvPr id="11" name="Text 9"/>
          <p:cNvSpPr/>
          <p:nvPr/>
        </p:nvSpPr>
        <p:spPr>
          <a:xfrm>
            <a:off x="320040" y="1572768"/>
            <a:ext cx="5120640" cy="347472"/>
          </a:xfrm>
          <a:prstGeom prst="rect">
            <a:avLst/>
          </a:prstGeom>
          <a:noFill/>
          <a:ln/>
        </p:spPr>
        <p:txBody>
          <a:bodyPr wrap="square" rtlCol="0" anchor="ctr"/>
          <a:lstStyle/>
          <a:p>
            <a:pPr marL="0" indent="0">
              <a:buNone/>
            </a:pPr>
            <a:r>
              <a:rPr lang="en-US" sz="1200" b="1" dirty="0">
                <a:solidFill>
                  <a:srgbClr val="1A2B3C"/>
                </a:solidFill>
                <a:latin typeface="Cambria" pitchFamily="34" charset="0"/>
                <a:ea typeface="Cambria" pitchFamily="34" charset="-122"/>
                <a:cs typeface="Cambria" pitchFamily="34" charset="-120"/>
              </a:rPr>
              <a:t>Trust Hierarchy  (Score 0 = Most Trusted  →  10 = Untrusted)</a:t>
            </a:r>
            <a:endParaRPr lang="en-US" sz="1200" dirty="0"/>
          </a:p>
        </p:txBody>
      </p:sp>
      <p:pic>
        <p:nvPicPr>
          <p:cNvPr id="51" name="Picture 50">
            <a:extLst>
              <a:ext uri="{FF2B5EF4-FFF2-40B4-BE49-F238E27FC236}">
                <a16:creationId xmlns:a16="http://schemas.microsoft.com/office/drawing/2014/main" id="{91758260-5FB9-0303-A867-045134A99C45}"/>
              </a:ext>
            </a:extLst>
          </p:cNvPr>
          <p:cNvPicPr>
            <a:picLocks noChangeAspect="1"/>
          </p:cNvPicPr>
          <p:nvPr/>
        </p:nvPicPr>
        <p:blipFill>
          <a:blip r:embed="rId3"/>
          <a:srcRect r="52417"/>
          <a:stretch>
            <a:fillRect/>
          </a:stretch>
        </p:blipFill>
        <p:spPr>
          <a:xfrm>
            <a:off x="3385566" y="2101808"/>
            <a:ext cx="2372868" cy="2409723"/>
          </a:xfrm>
          <a:prstGeom prst="rect">
            <a:avLst/>
          </a:prstGeom>
        </p:spPr>
      </p:pic>
      <p:sp>
        <p:nvSpPr>
          <p:cNvPr id="52" name="TextBox 51">
            <a:extLst>
              <a:ext uri="{FF2B5EF4-FFF2-40B4-BE49-F238E27FC236}">
                <a16:creationId xmlns:a16="http://schemas.microsoft.com/office/drawing/2014/main" id="{016F7EF0-2C1E-4B1C-7B0F-2D485B3980A9}"/>
              </a:ext>
            </a:extLst>
          </p:cNvPr>
          <p:cNvSpPr txBox="1"/>
          <p:nvPr/>
        </p:nvSpPr>
        <p:spPr>
          <a:xfrm>
            <a:off x="5859194" y="2049318"/>
            <a:ext cx="2855038" cy="2462213"/>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Every piece of data in my system carries a Provenance Atom  a tagged record containing who created it (source_id), where it came from (source_type), its trust level, and a full lineage trail of every step it passed through. When PAPE evaluates a request, it doesn't just check the user  it checks the origin and ownership of the data being accessed.</a:t>
            </a:r>
            <a:endParaRPr lang="en-IN" sz="1400" dirty="0">
              <a:latin typeface="Times New Roman" panose="02020603050405020304" pitchFamily="18" charset="0"/>
              <a:cs typeface="Times New Roman" panose="02020603050405020304" pitchFamily="18" charset="0"/>
            </a:endParaRPr>
          </a:p>
        </p:txBody>
      </p:sp>
      <p:pic>
        <p:nvPicPr>
          <p:cNvPr id="54" name="Picture 53">
            <a:extLst>
              <a:ext uri="{FF2B5EF4-FFF2-40B4-BE49-F238E27FC236}">
                <a16:creationId xmlns:a16="http://schemas.microsoft.com/office/drawing/2014/main" id="{894BD063-E663-DECD-5819-FE67B7E6D5B6}"/>
              </a:ext>
            </a:extLst>
          </p:cNvPr>
          <p:cNvPicPr>
            <a:picLocks noChangeAspect="1"/>
          </p:cNvPicPr>
          <p:nvPr/>
        </p:nvPicPr>
        <p:blipFill>
          <a:blip r:embed="rId4"/>
          <a:stretch>
            <a:fillRect/>
          </a:stretch>
        </p:blipFill>
        <p:spPr>
          <a:xfrm>
            <a:off x="164592" y="2101808"/>
            <a:ext cx="2815031" cy="21005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08  Layer 3: Cross-Agent Consensus (CAC)</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713232"/>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713232"/>
          </a:xfrm>
          <a:prstGeom prst="rect">
            <a:avLst/>
          </a:prstGeom>
          <a:solidFill>
            <a:srgbClr val="B06000"/>
          </a:solidFill>
          <a:ln w="12700">
            <a:solidFill>
              <a:srgbClr val="B06000"/>
            </a:solidFill>
            <a:prstDash val="solid"/>
          </a:ln>
        </p:spPr>
        <p:txBody>
          <a:bodyPr/>
          <a:lstStyle/>
          <a:p>
            <a:endParaRPr lang="en-IN"/>
          </a:p>
        </p:txBody>
      </p:sp>
      <p:sp>
        <p:nvSpPr>
          <p:cNvPr id="10" name="Text 8"/>
          <p:cNvSpPr/>
          <p:nvPr/>
        </p:nvSpPr>
        <p:spPr>
          <a:xfrm>
            <a:off x="502920" y="841248"/>
            <a:ext cx="8211312" cy="640080"/>
          </a:xfrm>
          <a:prstGeom prst="rect">
            <a:avLst/>
          </a:prstGeom>
          <a:noFill/>
          <a:ln/>
        </p:spPr>
        <p:txBody>
          <a:bodyPr wrap="square" rtlCol="0" anchor="ctr"/>
          <a:lstStyle/>
          <a:p>
            <a:pPr marL="0" indent="0">
              <a:buNone/>
            </a:pPr>
            <a:r>
              <a:rPr lang="en-US" sz="1250" dirty="0">
                <a:solidFill>
                  <a:srgbClr val="2E4057"/>
                </a:solidFill>
                <a:latin typeface="Calibri" pitchFamily="34" charset="0"/>
                <a:ea typeface="Calibri" pitchFamily="34" charset="-122"/>
                <a:cs typeface="Calibri" pitchFamily="34" charset="-120"/>
              </a:rPr>
              <a:t>Inspired by Byzantine Fault Tolerance (BFT): a system's ability to operate correctly even when some nodes fail or act maliciously. For critical actions, three specialised agents must reach agreement before execution preventing single-trajectory failures from hallucinated or poisoned reasoning. [Zhang et al., ICLR 2025]</a:t>
            </a:r>
            <a:endParaRPr lang="en-US" sz="1250" dirty="0"/>
          </a:p>
        </p:txBody>
      </p:sp>
      <p:sp>
        <p:nvSpPr>
          <p:cNvPr id="11" name="Shape 9"/>
          <p:cNvSpPr/>
          <p:nvPr/>
        </p:nvSpPr>
        <p:spPr>
          <a:xfrm>
            <a:off x="320040" y="1664208"/>
            <a:ext cx="2761488" cy="288036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1664208"/>
            <a:ext cx="64008" cy="2880360"/>
          </a:xfrm>
          <a:prstGeom prst="rect">
            <a:avLst/>
          </a:prstGeom>
          <a:solidFill>
            <a:srgbClr val="1A7A4A"/>
          </a:solidFill>
          <a:ln w="12700">
            <a:solidFill>
              <a:srgbClr val="1A7A4A"/>
            </a:solidFill>
            <a:prstDash val="solid"/>
          </a:ln>
        </p:spPr>
        <p:txBody>
          <a:bodyPr/>
          <a:lstStyle/>
          <a:p>
            <a:endParaRPr lang="en-IN"/>
          </a:p>
        </p:txBody>
      </p:sp>
      <p:sp>
        <p:nvSpPr>
          <p:cNvPr id="13" name="Text 11"/>
          <p:cNvSpPr/>
          <p:nvPr/>
        </p:nvSpPr>
        <p:spPr>
          <a:xfrm>
            <a:off x="320040" y="1755648"/>
            <a:ext cx="2761488"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4" name="Shape 12"/>
          <p:cNvSpPr/>
          <p:nvPr/>
        </p:nvSpPr>
        <p:spPr>
          <a:xfrm>
            <a:off x="548640" y="2423160"/>
            <a:ext cx="2304288" cy="36576"/>
          </a:xfrm>
          <a:prstGeom prst="rect">
            <a:avLst/>
          </a:prstGeom>
          <a:solidFill>
            <a:srgbClr val="D1DCE8"/>
          </a:solidFill>
          <a:ln/>
        </p:spPr>
        <p:txBody>
          <a:bodyPr/>
          <a:lstStyle/>
          <a:p>
            <a:endParaRPr lang="en-IN"/>
          </a:p>
        </p:txBody>
      </p:sp>
      <p:sp>
        <p:nvSpPr>
          <p:cNvPr id="15" name="Text 13"/>
          <p:cNvSpPr/>
          <p:nvPr/>
        </p:nvSpPr>
        <p:spPr>
          <a:xfrm>
            <a:off x="429768" y="2496312"/>
            <a:ext cx="2542032" cy="384048"/>
          </a:xfrm>
          <a:prstGeom prst="rect">
            <a:avLst/>
          </a:prstGeom>
          <a:noFill/>
          <a:ln/>
        </p:spPr>
        <p:txBody>
          <a:bodyPr wrap="square" rtlCol="0" anchor="ctr"/>
          <a:lstStyle/>
          <a:p>
            <a:pPr marL="0" indent="0" algn="ctr">
              <a:buNone/>
            </a:pPr>
            <a:r>
              <a:rPr lang="en-US" sz="1400" b="1" dirty="0">
                <a:solidFill>
                  <a:srgbClr val="1A7A4A"/>
                </a:solidFill>
                <a:latin typeface="Cambria" pitchFamily="34" charset="0"/>
                <a:ea typeface="Cambria" pitchFamily="34" charset="-122"/>
                <a:cs typeface="Cambria" pitchFamily="34" charset="-120"/>
              </a:rPr>
              <a:t>Validator</a:t>
            </a:r>
            <a:endParaRPr lang="en-US" sz="1400" dirty="0"/>
          </a:p>
        </p:txBody>
      </p:sp>
      <p:sp>
        <p:nvSpPr>
          <p:cNvPr id="16" name="Text 14"/>
          <p:cNvSpPr/>
          <p:nvPr/>
        </p:nvSpPr>
        <p:spPr>
          <a:xfrm>
            <a:off x="429768" y="2889504"/>
            <a:ext cx="2542032" cy="292608"/>
          </a:xfrm>
          <a:prstGeom prst="rect">
            <a:avLst/>
          </a:prstGeom>
          <a:noFill/>
          <a:ln/>
        </p:spPr>
        <p:txBody>
          <a:bodyPr wrap="square" rtlCol="0" anchor="ctr"/>
          <a:lstStyle/>
          <a:p>
            <a:pPr marL="0" indent="0" algn="ctr">
              <a:buNone/>
            </a:pPr>
            <a:r>
              <a:rPr lang="en-US" sz="1100" i="1" dirty="0">
                <a:solidFill>
                  <a:srgbClr val="B06000"/>
                </a:solidFill>
                <a:latin typeface="Calibri" pitchFamily="34" charset="0"/>
                <a:ea typeface="Calibri" pitchFamily="34" charset="-122"/>
                <a:cs typeface="Calibri" pitchFamily="34" charset="-120"/>
              </a:rPr>
              <a:t>"Validate request"</a:t>
            </a:r>
            <a:endParaRPr lang="en-US" sz="1100" dirty="0"/>
          </a:p>
        </p:txBody>
      </p:sp>
      <p:sp>
        <p:nvSpPr>
          <p:cNvPr id="17" name="Text 15"/>
          <p:cNvSpPr/>
          <p:nvPr/>
        </p:nvSpPr>
        <p:spPr>
          <a:xfrm>
            <a:off x="448056" y="3218688"/>
            <a:ext cx="2505456" cy="126187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Checks if the request is logically feasible and syntactically valid within system constraints. Does not care about rules — only about technical possibility.</a:t>
            </a:r>
            <a:endParaRPr lang="en-US" sz="1100" dirty="0"/>
          </a:p>
        </p:txBody>
      </p:sp>
      <p:sp>
        <p:nvSpPr>
          <p:cNvPr id="18" name="Shape 16"/>
          <p:cNvSpPr/>
          <p:nvPr/>
        </p:nvSpPr>
        <p:spPr>
          <a:xfrm>
            <a:off x="3227832" y="1664208"/>
            <a:ext cx="2761488" cy="288036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9" name="Shape 17"/>
          <p:cNvSpPr/>
          <p:nvPr/>
        </p:nvSpPr>
        <p:spPr>
          <a:xfrm>
            <a:off x="3227832" y="1664208"/>
            <a:ext cx="64008" cy="2880360"/>
          </a:xfrm>
          <a:prstGeom prst="rect">
            <a:avLst/>
          </a:prstGeom>
          <a:solidFill>
            <a:srgbClr val="1A6EBD"/>
          </a:solidFill>
          <a:ln w="12700">
            <a:solidFill>
              <a:srgbClr val="1A6EBD"/>
            </a:solidFill>
            <a:prstDash val="solid"/>
          </a:ln>
        </p:spPr>
        <p:txBody>
          <a:bodyPr/>
          <a:lstStyle/>
          <a:p>
            <a:endParaRPr lang="en-IN"/>
          </a:p>
        </p:txBody>
      </p:sp>
      <p:sp>
        <p:nvSpPr>
          <p:cNvPr id="20" name="Text 18"/>
          <p:cNvSpPr/>
          <p:nvPr/>
        </p:nvSpPr>
        <p:spPr>
          <a:xfrm>
            <a:off x="3227832" y="1755648"/>
            <a:ext cx="2761488"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Shape 19"/>
          <p:cNvSpPr/>
          <p:nvPr/>
        </p:nvSpPr>
        <p:spPr>
          <a:xfrm>
            <a:off x="3456432" y="2423160"/>
            <a:ext cx="2304288" cy="36576"/>
          </a:xfrm>
          <a:prstGeom prst="rect">
            <a:avLst/>
          </a:prstGeom>
          <a:solidFill>
            <a:srgbClr val="D1DCE8"/>
          </a:solidFill>
          <a:ln/>
        </p:spPr>
        <p:txBody>
          <a:bodyPr/>
          <a:lstStyle/>
          <a:p>
            <a:endParaRPr lang="en-IN"/>
          </a:p>
        </p:txBody>
      </p:sp>
      <p:sp>
        <p:nvSpPr>
          <p:cNvPr id="22" name="Text 20"/>
          <p:cNvSpPr/>
          <p:nvPr/>
        </p:nvSpPr>
        <p:spPr>
          <a:xfrm>
            <a:off x="3337560" y="2496312"/>
            <a:ext cx="2542032" cy="384048"/>
          </a:xfrm>
          <a:prstGeom prst="rect">
            <a:avLst/>
          </a:prstGeom>
          <a:noFill/>
          <a:ln/>
        </p:spPr>
        <p:txBody>
          <a:bodyPr wrap="square" rtlCol="0" anchor="ctr"/>
          <a:lstStyle/>
          <a:p>
            <a:pPr marL="0" indent="0" algn="ctr">
              <a:buNone/>
            </a:pPr>
            <a:r>
              <a:rPr lang="en-US" sz="1400" b="1" dirty="0">
                <a:solidFill>
                  <a:srgbClr val="1A6EBD"/>
                </a:solidFill>
                <a:latin typeface="Cambria" pitchFamily="34" charset="0"/>
                <a:ea typeface="Cambria" pitchFamily="34" charset="-122"/>
                <a:cs typeface="Cambria" pitchFamily="34" charset="-120"/>
              </a:rPr>
              <a:t>Policy Checker</a:t>
            </a:r>
            <a:endParaRPr lang="en-US" sz="1400" dirty="0"/>
          </a:p>
        </p:txBody>
      </p:sp>
      <p:sp>
        <p:nvSpPr>
          <p:cNvPr id="23" name="Text 21"/>
          <p:cNvSpPr/>
          <p:nvPr/>
        </p:nvSpPr>
        <p:spPr>
          <a:xfrm>
            <a:off x="3337560" y="2889504"/>
            <a:ext cx="2542032" cy="292608"/>
          </a:xfrm>
          <a:prstGeom prst="rect">
            <a:avLst/>
          </a:prstGeom>
          <a:noFill/>
          <a:ln/>
        </p:spPr>
        <p:txBody>
          <a:bodyPr wrap="square" rtlCol="0" anchor="ctr"/>
          <a:lstStyle/>
          <a:p>
            <a:pPr marL="0" indent="0" algn="ctr">
              <a:buNone/>
            </a:pPr>
            <a:r>
              <a:rPr lang="en-US" sz="1100" i="1" dirty="0">
                <a:solidFill>
                  <a:srgbClr val="B06000"/>
                </a:solidFill>
                <a:latin typeface="Calibri" pitchFamily="34" charset="0"/>
                <a:ea typeface="Calibri" pitchFamily="34" charset="-122"/>
                <a:cs typeface="Calibri" pitchFamily="34" charset="-120"/>
              </a:rPr>
              <a:t>"Check policy"</a:t>
            </a:r>
            <a:endParaRPr lang="en-US" sz="1100" dirty="0"/>
          </a:p>
        </p:txBody>
      </p:sp>
      <p:sp>
        <p:nvSpPr>
          <p:cNvPr id="24" name="Text 22"/>
          <p:cNvSpPr/>
          <p:nvPr/>
        </p:nvSpPr>
        <p:spPr>
          <a:xfrm>
            <a:off x="3355848" y="3218688"/>
            <a:ext cx="2505456" cy="126187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Evaluates the request against the SPEL policy constitution. Cares only about rule violations, not technical feasibility (e.g., 'Students cannot delete records').</a:t>
            </a:r>
            <a:endParaRPr lang="en-US" sz="1100" dirty="0"/>
          </a:p>
        </p:txBody>
      </p:sp>
      <p:sp>
        <p:nvSpPr>
          <p:cNvPr id="25" name="Shape 23"/>
          <p:cNvSpPr/>
          <p:nvPr/>
        </p:nvSpPr>
        <p:spPr>
          <a:xfrm>
            <a:off x="6135624" y="1664208"/>
            <a:ext cx="2761488" cy="288036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6" name="Shape 24"/>
          <p:cNvSpPr/>
          <p:nvPr/>
        </p:nvSpPr>
        <p:spPr>
          <a:xfrm>
            <a:off x="6135624" y="1664208"/>
            <a:ext cx="64008" cy="2880360"/>
          </a:xfrm>
          <a:prstGeom prst="rect">
            <a:avLst/>
          </a:prstGeom>
          <a:solidFill>
            <a:srgbClr val="B91C1C"/>
          </a:solidFill>
          <a:ln w="12700">
            <a:solidFill>
              <a:srgbClr val="B91C1C"/>
            </a:solidFill>
            <a:prstDash val="solid"/>
          </a:ln>
        </p:spPr>
        <p:txBody>
          <a:bodyPr/>
          <a:lstStyle/>
          <a:p>
            <a:endParaRPr lang="en-IN"/>
          </a:p>
        </p:txBody>
      </p:sp>
      <p:sp>
        <p:nvSpPr>
          <p:cNvPr id="27" name="Text 25"/>
          <p:cNvSpPr/>
          <p:nvPr/>
        </p:nvSpPr>
        <p:spPr>
          <a:xfrm>
            <a:off x="6135624" y="1755648"/>
            <a:ext cx="2761488"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8" name="Shape 26"/>
          <p:cNvSpPr/>
          <p:nvPr/>
        </p:nvSpPr>
        <p:spPr>
          <a:xfrm>
            <a:off x="6364224" y="2423160"/>
            <a:ext cx="2304288" cy="36576"/>
          </a:xfrm>
          <a:prstGeom prst="rect">
            <a:avLst/>
          </a:prstGeom>
          <a:solidFill>
            <a:srgbClr val="D1DCE8"/>
          </a:solidFill>
          <a:ln/>
        </p:spPr>
        <p:txBody>
          <a:bodyPr/>
          <a:lstStyle/>
          <a:p>
            <a:endParaRPr lang="en-IN"/>
          </a:p>
        </p:txBody>
      </p:sp>
      <p:sp>
        <p:nvSpPr>
          <p:cNvPr id="29" name="Text 27"/>
          <p:cNvSpPr/>
          <p:nvPr/>
        </p:nvSpPr>
        <p:spPr>
          <a:xfrm>
            <a:off x="6245352" y="2496312"/>
            <a:ext cx="2542032" cy="384048"/>
          </a:xfrm>
          <a:prstGeom prst="rect">
            <a:avLst/>
          </a:prstGeom>
          <a:noFill/>
          <a:ln/>
        </p:spPr>
        <p:txBody>
          <a:bodyPr wrap="square" rtlCol="0" anchor="ctr"/>
          <a:lstStyle/>
          <a:p>
            <a:pPr marL="0" indent="0" algn="ctr">
              <a:buNone/>
            </a:pPr>
            <a:r>
              <a:rPr lang="en-US" sz="1400" b="1" dirty="0">
                <a:solidFill>
                  <a:srgbClr val="B91C1C"/>
                </a:solidFill>
                <a:latin typeface="Cambria" pitchFamily="34" charset="0"/>
                <a:ea typeface="Cambria" pitchFamily="34" charset="-122"/>
                <a:cs typeface="Cambria" pitchFamily="34" charset="-120"/>
              </a:rPr>
              <a:t>Risk Assessor</a:t>
            </a:r>
            <a:endParaRPr lang="en-US" sz="1400" dirty="0"/>
          </a:p>
        </p:txBody>
      </p:sp>
      <p:sp>
        <p:nvSpPr>
          <p:cNvPr id="30" name="Text 28"/>
          <p:cNvSpPr/>
          <p:nvPr/>
        </p:nvSpPr>
        <p:spPr>
          <a:xfrm>
            <a:off x="6245352" y="2889504"/>
            <a:ext cx="2542032" cy="292608"/>
          </a:xfrm>
          <a:prstGeom prst="rect">
            <a:avLst/>
          </a:prstGeom>
          <a:noFill/>
          <a:ln/>
        </p:spPr>
        <p:txBody>
          <a:bodyPr wrap="square" rtlCol="0" anchor="ctr"/>
          <a:lstStyle/>
          <a:p>
            <a:pPr marL="0" indent="0" algn="ctr">
              <a:buNone/>
            </a:pPr>
            <a:r>
              <a:rPr lang="en-US" sz="1100" i="1" dirty="0">
                <a:solidFill>
                  <a:srgbClr val="B06000"/>
                </a:solidFill>
                <a:latin typeface="Calibri" pitchFamily="34" charset="0"/>
                <a:ea typeface="Calibri" pitchFamily="34" charset="-122"/>
                <a:cs typeface="Calibri" pitchFamily="34" charset="-120"/>
              </a:rPr>
              <a:t>"Assess risk"</a:t>
            </a:r>
            <a:endParaRPr lang="en-US" sz="1100" dirty="0"/>
          </a:p>
        </p:txBody>
      </p:sp>
      <p:sp>
        <p:nvSpPr>
          <p:cNvPr id="31" name="Text 29"/>
          <p:cNvSpPr/>
          <p:nvPr/>
        </p:nvSpPr>
        <p:spPr>
          <a:xfrm>
            <a:off x="6263640" y="3218688"/>
            <a:ext cx="2505456" cy="126187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Evaluates consequences even if the request is valid and policy-compliant. Flags dangerous edge cases (e.g., exporting 10,000 records may be permitted but high-risk).</a:t>
            </a:r>
            <a:endParaRPr lang="en-US" sz="1100" dirty="0"/>
          </a:p>
        </p:txBody>
      </p:sp>
      <p:sp>
        <p:nvSpPr>
          <p:cNvPr id="32" name="Shape 30"/>
          <p:cNvSpPr/>
          <p:nvPr/>
        </p:nvSpPr>
        <p:spPr>
          <a:xfrm>
            <a:off x="320040" y="4663440"/>
            <a:ext cx="8503920" cy="384048"/>
          </a:xfrm>
          <a:prstGeom prst="rect">
            <a:avLst/>
          </a:prstGeom>
          <a:solidFill>
            <a:srgbClr val="EEF3FA"/>
          </a:solidFill>
          <a:ln w="7620">
            <a:solidFill>
              <a:srgbClr val="C8D8E8"/>
            </a:solidFill>
            <a:prstDash val="solid"/>
          </a:ln>
        </p:spPr>
        <p:txBody>
          <a:bodyPr/>
          <a:lstStyle/>
          <a:p>
            <a:endParaRPr lang="en-IN"/>
          </a:p>
        </p:txBody>
      </p:sp>
      <p:sp>
        <p:nvSpPr>
          <p:cNvPr id="33" name="Text 31"/>
          <p:cNvSpPr/>
          <p:nvPr/>
        </p:nvSpPr>
        <p:spPr>
          <a:xfrm>
            <a:off x="502920" y="4663440"/>
            <a:ext cx="8229600" cy="384048"/>
          </a:xfrm>
          <a:prstGeom prst="rect">
            <a:avLst/>
          </a:prstGeom>
          <a:noFill/>
          <a:ln/>
        </p:spPr>
        <p:txBody>
          <a:bodyPr wrap="square" rtlCol="0" anchor="ctr"/>
          <a:lstStyle/>
          <a:p>
            <a:pPr marL="0" indent="0" algn="ctr">
              <a:buNone/>
            </a:pPr>
            <a:r>
              <a:rPr lang="en-US" sz="1200" b="1" dirty="0">
                <a:solidFill>
                  <a:srgbClr val="1A7A4A"/>
                </a:solidFill>
                <a:latin typeface="Calibri" pitchFamily="34" charset="0"/>
                <a:ea typeface="Calibri" pitchFamily="34" charset="-122"/>
                <a:cs typeface="Calibri" pitchFamily="34" charset="-120"/>
              </a:rPr>
              <a:t>2 of 3 Agents Agree → </a:t>
            </a:r>
            <a:r>
              <a:rPr lang="en-US" sz="1200" dirty="0">
                <a:solidFill>
                  <a:srgbClr val="1A7A4A"/>
                </a:solidFill>
                <a:latin typeface="Calibri" pitchFamily="34" charset="0"/>
                <a:ea typeface="Calibri" pitchFamily="34" charset="-122"/>
                <a:cs typeface="Calibri" pitchFamily="34" charset="-120"/>
              </a:rPr>
              <a:t>ACTION ALLOWED    </a:t>
            </a:r>
            <a:r>
              <a:rPr lang="en-US" sz="1200" dirty="0">
                <a:solidFill>
                  <a:srgbClr val="A0AEC0"/>
                </a:solidFill>
                <a:latin typeface="Calibri" pitchFamily="34" charset="0"/>
                <a:ea typeface="Calibri" pitchFamily="34" charset="-122"/>
                <a:cs typeface="Calibri" pitchFamily="34" charset="-120"/>
              </a:rPr>
              <a:t>  |  </a:t>
            </a:r>
            <a:r>
              <a:rPr lang="en-US" sz="1200" b="1" dirty="0">
                <a:solidFill>
                  <a:srgbClr val="B91C1C"/>
                </a:solidFill>
                <a:latin typeface="Calibri" pitchFamily="34" charset="0"/>
                <a:ea typeface="Calibri" pitchFamily="34" charset="-122"/>
                <a:cs typeface="Calibri" pitchFamily="34" charset="-120"/>
              </a:rPr>
              <a:t>Only 1 Agrees → </a:t>
            </a:r>
            <a:r>
              <a:rPr lang="en-US" sz="1200" dirty="0">
                <a:solidFill>
                  <a:srgbClr val="B91C1C"/>
                </a:solidFill>
                <a:latin typeface="Calibri" pitchFamily="34" charset="0"/>
                <a:ea typeface="Calibri" pitchFamily="34" charset="-122"/>
                <a:cs typeface="Calibri" pitchFamily="34" charset="-120"/>
              </a:rPr>
              <a:t>ACTION BLOCKED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09  Layer 4: Weighted Hallucination Score (WHS)</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8503920" cy="658368"/>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658368"/>
          </a:xfrm>
          <a:prstGeom prst="rect">
            <a:avLst/>
          </a:prstGeom>
          <a:solidFill>
            <a:srgbClr val="B91C1C"/>
          </a:solidFill>
          <a:ln w="12700">
            <a:solidFill>
              <a:srgbClr val="B91C1C"/>
            </a:solidFill>
            <a:prstDash val="solid"/>
          </a:ln>
        </p:spPr>
        <p:txBody>
          <a:bodyPr/>
          <a:lstStyle/>
          <a:p>
            <a:endParaRPr lang="en-IN"/>
          </a:p>
        </p:txBody>
      </p:sp>
      <p:sp>
        <p:nvSpPr>
          <p:cNvPr id="10" name="Text 8"/>
          <p:cNvSpPr/>
          <p:nvPr/>
        </p:nvSpPr>
        <p:spPr>
          <a:xfrm>
            <a:off x="502920" y="841248"/>
            <a:ext cx="8211312" cy="585216"/>
          </a:xfrm>
          <a:prstGeom prst="rect">
            <a:avLst/>
          </a:prstGeom>
          <a:noFill/>
          <a:ln/>
        </p:spPr>
        <p:txBody>
          <a:bodyPr wrap="square" rtlCol="0" anchor="ctr"/>
          <a:lstStyle/>
          <a:p>
            <a:pPr marL="0" indent="0">
              <a:buNone/>
            </a:pPr>
            <a:r>
              <a:rPr lang="en-US" sz="1300" i="1" dirty="0">
                <a:latin typeface="Calibri" pitchFamily="34" charset="0"/>
                <a:ea typeface="Calibri" pitchFamily="34" charset="-122"/>
                <a:cs typeface="Calibri" pitchFamily="34" charset="-120"/>
              </a:rPr>
              <a:t>Traditional hallucination detectors ask: </a:t>
            </a:r>
            <a:r>
              <a:rPr lang="en-US" sz="1300" dirty="0">
                <a:latin typeface="Calibri" pitchFamily="34" charset="0"/>
                <a:ea typeface="Calibri" pitchFamily="34" charset="-122"/>
                <a:cs typeface="Calibri" pitchFamily="34" charset="-120"/>
              </a:rPr>
              <a:t>"Is the output wrong?"   </a:t>
            </a:r>
            <a:r>
              <a:rPr lang="en-US" sz="1300" i="1" dirty="0">
                <a:latin typeface="Calibri" pitchFamily="34" charset="0"/>
                <a:ea typeface="Calibri" pitchFamily="34" charset="-122"/>
                <a:cs typeface="Calibri" pitchFamily="34" charset="-120"/>
              </a:rPr>
              <a:t>WHS asks: </a:t>
            </a:r>
            <a:r>
              <a:rPr lang="en-US" sz="1300" b="1" dirty="0">
                <a:latin typeface="Calibri" pitchFamily="34" charset="0"/>
                <a:ea typeface="Calibri" pitchFamily="34" charset="-122"/>
                <a:cs typeface="Calibri" pitchFamily="34" charset="-120"/>
              </a:rPr>
              <a:t>"How wrong is it, and how dangerous is that wrongness?"</a:t>
            </a:r>
            <a:endParaRPr lang="en-US" sz="1300" dirty="0"/>
          </a:p>
        </p:txBody>
      </p:sp>
      <p:sp>
        <p:nvSpPr>
          <p:cNvPr id="11" name="Shape 9"/>
          <p:cNvSpPr/>
          <p:nvPr/>
        </p:nvSpPr>
        <p:spPr>
          <a:xfrm>
            <a:off x="320040" y="1572768"/>
            <a:ext cx="8503920" cy="1005840"/>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320040" y="1572768"/>
            <a:ext cx="8503920" cy="1005840"/>
          </a:xfrm>
          <a:prstGeom prst="rect">
            <a:avLst/>
          </a:prstGeom>
          <a:solidFill>
            <a:schemeClr val="bg1"/>
          </a:solidFill>
          <a:ln w="11430">
            <a:solidFill>
              <a:srgbClr val="1A6EBD"/>
            </a:solidFill>
            <a:prstDash val="solid"/>
          </a:ln>
        </p:spPr>
        <p:txBody>
          <a:bodyPr/>
          <a:lstStyle/>
          <a:p>
            <a:endParaRPr lang="en-IN"/>
          </a:p>
        </p:txBody>
      </p:sp>
      <p:sp>
        <p:nvSpPr>
          <p:cNvPr id="13" name="Text 11"/>
          <p:cNvSpPr/>
          <p:nvPr/>
        </p:nvSpPr>
        <p:spPr>
          <a:xfrm>
            <a:off x="457200" y="1664208"/>
            <a:ext cx="8321040" cy="594360"/>
          </a:xfrm>
          <a:prstGeom prst="rect">
            <a:avLst/>
          </a:prstGeom>
          <a:solidFill>
            <a:schemeClr val="bg1"/>
          </a:solidFill>
          <a:ln/>
        </p:spPr>
        <p:txBody>
          <a:bodyPr wrap="square" rtlCol="0" anchor="ctr"/>
          <a:lstStyle/>
          <a:p>
            <a:pPr algn="ctr"/>
            <a:r>
              <a:rPr lang="en-US" sz="2000" b="1" dirty="0">
                <a:latin typeface="Consolas" pitchFamily="34" charset="0"/>
                <a:ea typeface="Consolas" pitchFamily="34" charset="-122"/>
                <a:cs typeface="Consolas" pitchFamily="34" charset="-120"/>
              </a:rPr>
              <a:t>WHS  = </a:t>
            </a:r>
            <a:r>
              <a:rPr lang="pt-BR" sz="2000" dirty="0"/>
              <a:t>Σ(h_i × s_i) / Σ(s_i)</a:t>
            </a:r>
            <a:endParaRPr lang="en-US" sz="2000" dirty="0"/>
          </a:p>
        </p:txBody>
      </p:sp>
      <p:sp>
        <p:nvSpPr>
          <p:cNvPr id="14" name="Text 12"/>
          <p:cNvSpPr/>
          <p:nvPr/>
        </p:nvSpPr>
        <p:spPr>
          <a:xfrm>
            <a:off x="457200" y="2304288"/>
            <a:ext cx="8321040" cy="256032"/>
          </a:xfrm>
          <a:prstGeom prst="rect">
            <a:avLst/>
          </a:prstGeom>
          <a:noFill/>
          <a:ln/>
        </p:spPr>
        <p:txBody>
          <a:bodyPr wrap="square" rtlCol="0" anchor="ctr"/>
          <a:lstStyle/>
          <a:p>
            <a:pPr marL="0" indent="0" algn="ctr">
              <a:buNone/>
            </a:pPr>
            <a:r>
              <a:rPr lang="en-US" sz="1100" i="1" dirty="0">
                <a:solidFill>
                  <a:srgbClr val="6B7C93"/>
                </a:solidFill>
                <a:latin typeface="Calibri" pitchFamily="34" charset="0"/>
                <a:ea typeface="Calibri" pitchFamily="34" charset="-122"/>
                <a:cs typeface="Calibri" pitchFamily="34" charset="-120"/>
              </a:rPr>
              <a:t>Score range: 0.0 (harmless minor error)  →  1.0 (critically dangerous, high-confidence wrong claim)  [arXiv:2406.02630, 2024]</a:t>
            </a:r>
            <a:endParaRPr lang="en-US" sz="1100" dirty="0"/>
          </a:p>
        </p:txBody>
      </p:sp>
      <p:sp>
        <p:nvSpPr>
          <p:cNvPr id="18" name="Text 16"/>
          <p:cNvSpPr/>
          <p:nvPr/>
        </p:nvSpPr>
        <p:spPr>
          <a:xfrm>
            <a:off x="448056" y="2798064"/>
            <a:ext cx="777240" cy="7772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25" name="Text 23"/>
          <p:cNvSpPr/>
          <p:nvPr/>
        </p:nvSpPr>
        <p:spPr>
          <a:xfrm>
            <a:off x="4855464" y="2798064"/>
            <a:ext cx="777240" cy="7772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pic>
        <p:nvPicPr>
          <p:cNvPr id="29" name="Picture 28">
            <a:extLst>
              <a:ext uri="{FF2B5EF4-FFF2-40B4-BE49-F238E27FC236}">
                <a16:creationId xmlns:a16="http://schemas.microsoft.com/office/drawing/2014/main" id="{8B4EAE3B-C244-A84E-61FE-F2C9AE253888}"/>
              </a:ext>
            </a:extLst>
          </p:cNvPr>
          <p:cNvPicPr>
            <a:picLocks noChangeAspect="1"/>
          </p:cNvPicPr>
          <p:nvPr/>
        </p:nvPicPr>
        <p:blipFill>
          <a:blip r:embed="rId3"/>
          <a:srcRect b="41515"/>
          <a:stretch>
            <a:fillRect/>
          </a:stretch>
        </p:blipFill>
        <p:spPr>
          <a:xfrm>
            <a:off x="608427" y="2798064"/>
            <a:ext cx="3751150" cy="11064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33C842B-98FA-7C92-777D-AB2EA9ED2C76}"/>
              </a:ext>
            </a:extLst>
          </p:cNvPr>
          <p:cNvSpPr/>
          <p:nvPr/>
        </p:nvSpPr>
        <p:spPr>
          <a:xfrm>
            <a:off x="0" y="0"/>
            <a:ext cx="164592" cy="658368"/>
          </a:xfrm>
          <a:prstGeom prst="rect">
            <a:avLst/>
          </a:prstGeom>
          <a:solidFill>
            <a:schemeClr val="tx1"/>
          </a:solidFill>
          <a:ln/>
        </p:spPr>
        <p:txBody>
          <a:bodyPr/>
          <a:lstStyle/>
          <a:p>
            <a:endParaRPr lang="en-IN"/>
          </a:p>
        </p:txBody>
      </p:sp>
      <p:sp>
        <p:nvSpPr>
          <p:cNvPr id="4" name="Shape 0">
            <a:extLst>
              <a:ext uri="{FF2B5EF4-FFF2-40B4-BE49-F238E27FC236}">
                <a16:creationId xmlns:a16="http://schemas.microsoft.com/office/drawing/2014/main" id="{0D390188-C984-C4C0-3E5A-60ABA8BC39E9}"/>
              </a:ext>
            </a:extLst>
          </p:cNvPr>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7" name="Text 2">
            <a:extLst>
              <a:ext uri="{FF2B5EF4-FFF2-40B4-BE49-F238E27FC236}">
                <a16:creationId xmlns:a16="http://schemas.microsoft.com/office/drawing/2014/main" id="{151D9BF6-94CD-7D81-2E5C-3E9D4DFA3CA9}"/>
              </a:ext>
            </a:extLst>
          </p:cNvPr>
          <p:cNvSpPr/>
          <p:nvPr/>
        </p:nvSpPr>
        <p:spPr>
          <a:xfrm>
            <a:off x="292608" y="0"/>
            <a:ext cx="8549640" cy="658368"/>
          </a:xfrm>
          <a:prstGeom prst="rect">
            <a:avLst/>
          </a:prstGeom>
          <a:noFill/>
          <a:ln/>
        </p:spPr>
        <p:txBody>
          <a:bodyPr wrap="square" rtlCol="0" anchor="ctr"/>
          <a:lstStyle/>
          <a:p>
            <a:r>
              <a:rPr lang="en-US" sz="2400" b="1" dirty="0">
                <a:solidFill>
                  <a:srgbClr val="FFFFFF"/>
                </a:solidFill>
                <a:latin typeface="Cambria" pitchFamily="34" charset="0"/>
                <a:ea typeface="Cambria" pitchFamily="34" charset="-122"/>
                <a:cs typeface="Cambria" pitchFamily="34" charset="-120"/>
              </a:rPr>
              <a:t>10  Layer 4: Weighted Hallucination Score (WHS)</a:t>
            </a:r>
            <a:endParaRPr lang="en-US" sz="2400" dirty="0"/>
          </a:p>
        </p:txBody>
      </p:sp>
      <p:sp>
        <p:nvSpPr>
          <p:cNvPr id="10" name="TextBox 9">
            <a:extLst>
              <a:ext uri="{FF2B5EF4-FFF2-40B4-BE49-F238E27FC236}">
                <a16:creationId xmlns:a16="http://schemas.microsoft.com/office/drawing/2014/main" id="{1A4F4304-3383-93EF-6EE7-01216B97493C}"/>
              </a:ext>
            </a:extLst>
          </p:cNvPr>
          <p:cNvSpPr txBox="1"/>
          <p:nvPr/>
        </p:nvSpPr>
        <p:spPr>
          <a:xfrm>
            <a:off x="407963" y="900332"/>
            <a:ext cx="7575452" cy="3970318"/>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a:t>
            </a:r>
          </a:p>
          <a:p>
            <a:r>
              <a:rPr lang="en-IN" sz="1400" dirty="0">
                <a:latin typeface="Times New Roman" panose="02020603050405020304" pitchFamily="18" charset="0"/>
                <a:cs typeface="Times New Roman" panose="02020603050405020304" pitchFamily="18" charset="0"/>
              </a:rPr>
              <a:t>Example 1 </a:t>
            </a:r>
          </a:p>
          <a:p>
            <a:r>
              <a:rPr lang="en-US" sz="1400" dirty="0">
                <a:latin typeface="Times New Roman" panose="02020603050405020304" pitchFamily="18" charset="0"/>
                <a:cs typeface="Times New Roman" panose="02020603050405020304" pitchFamily="18" charset="0"/>
              </a:rPr>
              <a:t>One fake application ID  Blocked</a:t>
            </a:r>
          </a:p>
          <a:p>
            <a:r>
              <a:rPr lang="en-US" sz="1400" dirty="0">
                <a:latin typeface="Times New Roman" panose="02020603050405020304" pitchFamily="18" charset="0"/>
                <a:cs typeface="Times New Roman" panose="02020603050405020304" pitchFamily="18" charset="0"/>
              </a:rPr>
              <a:t>"Your application APP999 has been approved. Please proceed to pay your fees."</a:t>
            </a:r>
          </a:p>
          <a:p>
            <a:r>
              <a:rPr lang="en-US" sz="1400" dirty="0">
                <a:latin typeface="Times New Roman" panose="02020603050405020304" pitchFamily="18" charset="0"/>
                <a:cs typeface="Times New Roman" panose="02020603050405020304" pitchFamily="18" charset="0"/>
              </a:rPr>
              <a:t>fake_app_id: APP999→ not found in DB+ 1.0</a:t>
            </a:r>
          </a:p>
          <a:p>
            <a:r>
              <a:rPr lang="en-US" sz="1400" dirty="0">
                <a:latin typeface="Times New Roman" panose="02020603050405020304" pitchFamily="18" charset="0"/>
                <a:cs typeface="Times New Roman" panose="02020603050405020304" pitchFamily="18" charset="0"/>
              </a:rPr>
              <a:t>WHS = 1.0 / 3.4 =0.2941&gt; 0.15 → blocked</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Example 2</a:t>
            </a:r>
          </a:p>
          <a:p>
            <a:r>
              <a:rPr lang="en-IN" sz="1400" dirty="0">
                <a:latin typeface="Times New Roman" panose="02020603050405020304" pitchFamily="18" charset="0"/>
                <a:cs typeface="Times New Roman" panose="02020603050405020304" pitchFamily="18" charset="0"/>
              </a:rPr>
              <a:t>"Your application APP888 for MBA999 is confirmed. Fee is ₹25,00,000 and placement is 110%."</a:t>
            </a:r>
          </a:p>
          <a:p>
            <a:r>
              <a:rPr lang="en-IN" sz="1400" dirty="0">
                <a:latin typeface="Times New Roman" panose="02020603050405020304" pitchFamily="18" charset="0"/>
                <a:cs typeface="Times New Roman" panose="02020603050405020304" pitchFamily="18" charset="0"/>
              </a:rPr>
              <a:t>fake_app_id: APP888+ 1.0</a:t>
            </a:r>
          </a:p>
          <a:p>
            <a:r>
              <a:rPr lang="en-IN" sz="1400" dirty="0">
                <a:latin typeface="Times New Roman" panose="02020603050405020304" pitchFamily="18" charset="0"/>
                <a:cs typeface="Times New Roman" panose="02020603050405020304" pitchFamily="18" charset="0"/>
              </a:rPr>
              <a:t>fake_course_id: MBA999+ 0.9</a:t>
            </a:r>
          </a:p>
          <a:p>
            <a:r>
              <a:rPr lang="en-IN" sz="1400" dirty="0">
                <a:latin typeface="Times New Roman" panose="02020603050405020304" pitchFamily="18" charset="0"/>
                <a:cs typeface="Times New Roman" panose="02020603050405020304" pitchFamily="18" charset="0"/>
              </a:rPr>
              <a:t>impossible_pct: 110%+ 0.8</a:t>
            </a:r>
          </a:p>
          <a:p>
            <a:r>
              <a:rPr lang="en-IN" sz="1400" dirty="0" err="1">
                <a:latin typeface="Times New Roman" panose="02020603050405020304" pitchFamily="18" charset="0"/>
                <a:cs typeface="Times New Roman" panose="02020603050405020304" pitchFamily="18" charset="0"/>
              </a:rPr>
              <a:t>impossible_fee</a:t>
            </a:r>
            <a:r>
              <a:rPr lang="en-IN" sz="1400" dirty="0">
                <a:latin typeface="Times New Roman" panose="02020603050405020304" pitchFamily="18" charset="0"/>
                <a:cs typeface="Times New Roman" panose="02020603050405020304" pitchFamily="18" charset="0"/>
              </a:rPr>
              <a:t>: ₹25,00,000→ &gt; ₹20,00,000+ 0.7</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WHS = (1.0+0.9+0.8+0.7) / 3.4 = 3.4 / 3.4 =1.0000&gt; 0.15 → blocked (max score)</a:t>
            </a:r>
          </a:p>
          <a:p>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180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4A7EFCC-227D-F83F-EC66-8977126CAEE5}"/>
              </a:ext>
            </a:extLst>
          </p:cNvPr>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pic>
        <p:nvPicPr>
          <p:cNvPr id="4" name="Picture 3">
            <a:extLst>
              <a:ext uri="{FF2B5EF4-FFF2-40B4-BE49-F238E27FC236}">
                <a16:creationId xmlns:a16="http://schemas.microsoft.com/office/drawing/2014/main" id="{415286BA-2ED0-F3C6-D84E-C6C8E09F97F6}"/>
              </a:ext>
            </a:extLst>
          </p:cNvPr>
          <p:cNvPicPr>
            <a:picLocks noChangeAspect="1"/>
          </p:cNvPicPr>
          <p:nvPr/>
        </p:nvPicPr>
        <p:blipFill>
          <a:blip r:embed="rId2"/>
          <a:stretch>
            <a:fillRect/>
          </a:stretch>
        </p:blipFill>
        <p:spPr>
          <a:xfrm>
            <a:off x="98473" y="719331"/>
            <a:ext cx="5233182" cy="2635574"/>
          </a:xfrm>
          <a:prstGeom prst="rect">
            <a:avLst/>
          </a:prstGeom>
        </p:spPr>
      </p:pic>
      <p:sp>
        <p:nvSpPr>
          <p:cNvPr id="5" name="Text 2">
            <a:extLst>
              <a:ext uri="{FF2B5EF4-FFF2-40B4-BE49-F238E27FC236}">
                <a16:creationId xmlns:a16="http://schemas.microsoft.com/office/drawing/2014/main" id="{A422328A-20D7-6B6F-06C8-1ACC3EB37F8C}"/>
              </a:ext>
            </a:extLst>
          </p:cNvPr>
          <p:cNvSpPr/>
          <p:nvPr/>
        </p:nvSpPr>
        <p:spPr>
          <a:xfrm>
            <a:off x="98473" y="0"/>
            <a:ext cx="8743775" cy="658368"/>
          </a:xfrm>
          <a:prstGeom prst="rect">
            <a:avLst/>
          </a:prstGeom>
          <a:noFill/>
          <a:ln/>
        </p:spPr>
        <p:txBody>
          <a:bodyPr wrap="square" rtlCol="0" anchor="ctr"/>
          <a:lstStyle/>
          <a:p>
            <a:pPr marL="457200" indent="-457200">
              <a:buAutoNum type="arabicPlain" startAt="11"/>
            </a:pPr>
            <a:r>
              <a:rPr lang="en-US" sz="2200" b="1" dirty="0">
                <a:solidFill>
                  <a:srgbClr val="FFFFFF"/>
                </a:solidFill>
                <a:latin typeface="Cambria" pitchFamily="34" charset="0"/>
                <a:ea typeface="Cambria" pitchFamily="34" charset="-122"/>
                <a:cs typeface="Cambria" pitchFamily="34" charset="-120"/>
              </a:rPr>
              <a:t>A2A-Shield</a:t>
            </a:r>
          </a:p>
        </p:txBody>
      </p:sp>
      <p:sp>
        <p:nvSpPr>
          <p:cNvPr id="6" name="TextBox 5">
            <a:extLst>
              <a:ext uri="{FF2B5EF4-FFF2-40B4-BE49-F238E27FC236}">
                <a16:creationId xmlns:a16="http://schemas.microsoft.com/office/drawing/2014/main" id="{2E7FDBF9-DDFE-97AE-108F-EC830B9C8CE3}"/>
              </a:ext>
            </a:extLst>
          </p:cNvPr>
          <p:cNvSpPr txBox="1"/>
          <p:nvPr/>
        </p:nvSpPr>
        <p:spPr>
          <a:xfrm>
            <a:off x="5732585" y="1244991"/>
            <a:ext cx="3109663" cy="1169551"/>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A2A-Shield</a:t>
            </a:r>
            <a:r>
              <a:rPr lang="en-US" sz="1400" dirty="0">
                <a:latin typeface="Times New Roman" panose="02020603050405020304" pitchFamily="18" charset="0"/>
                <a:cs typeface="Times New Roman" panose="02020603050405020304" pitchFamily="18" charset="0"/>
              </a:rPr>
              <a:t> is a security layer in the ARIA framework specifically designed to protect </a:t>
            </a:r>
            <a:r>
              <a:rPr lang="en-US" sz="1400" b="1" dirty="0">
                <a:latin typeface="Times New Roman" panose="02020603050405020304" pitchFamily="18" charset="0"/>
                <a:cs typeface="Times New Roman" panose="02020603050405020304" pitchFamily="18" charset="0"/>
              </a:rPr>
              <a:t>inter-agent communication</a:t>
            </a:r>
            <a:r>
              <a:rPr lang="en-US" sz="1400" dirty="0">
                <a:latin typeface="Times New Roman" panose="02020603050405020304" pitchFamily="18" charset="0"/>
                <a:cs typeface="Times New Roman" panose="02020603050405020304" pitchFamily="18" charset="0"/>
              </a:rPr>
              <a:t>  i.e., messages and data that pass between AI agents in the pipeline.</a:t>
            </a:r>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86E374A-0A5E-F9C6-2BE3-1F3E73B36C95}"/>
              </a:ext>
            </a:extLst>
          </p:cNvPr>
          <p:cNvSpPr txBox="1"/>
          <p:nvPr/>
        </p:nvSpPr>
        <p:spPr>
          <a:xfrm>
            <a:off x="773724" y="3415868"/>
            <a:ext cx="8510953" cy="1600438"/>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What it guards against:</a:t>
            </a:r>
          </a:p>
          <a:p>
            <a:pPr marL="342900" indent="-342900">
              <a:buAutoNum type="arabicPeriod"/>
            </a:pPr>
            <a:r>
              <a:rPr lang="en-US" sz="1400" b="1" dirty="0">
                <a:latin typeface="Times New Roman" panose="02020603050405020304" pitchFamily="18" charset="0"/>
                <a:cs typeface="Times New Roman" panose="02020603050405020304" pitchFamily="18" charset="0"/>
              </a:rPr>
              <a:t>Tool Output Injection</a:t>
            </a:r>
            <a:r>
              <a:rPr lang="en-US" sz="1400" dirty="0">
                <a:latin typeface="Times New Roman" panose="02020603050405020304" pitchFamily="18" charset="0"/>
                <a:cs typeface="Times New Roman" panose="02020603050405020304" pitchFamily="18" charset="0"/>
              </a:rPr>
              <a:t> — When a malicious payload is embedded inside a tool's output to hijack the agent consuming it.</a:t>
            </a:r>
          </a:p>
          <a:p>
            <a:pPr marL="342900" indent="-342900">
              <a:buAutoNum type="arabicPeriod"/>
            </a:pPr>
            <a:r>
              <a:rPr lang="en-US" sz="1400" b="1" dirty="0">
                <a:latin typeface="Times New Roman" panose="02020603050405020304" pitchFamily="18" charset="0"/>
                <a:cs typeface="Times New Roman" panose="02020603050405020304" pitchFamily="18" charset="0"/>
              </a:rPr>
              <a:t>Agent Impersonation</a:t>
            </a:r>
            <a:r>
              <a:rPr lang="en-US" sz="1400" dirty="0">
                <a:latin typeface="Times New Roman" panose="02020603050405020304" pitchFamily="18" charset="0"/>
                <a:cs typeface="Times New Roman" panose="02020603050405020304" pitchFamily="18" charset="0"/>
              </a:rPr>
              <a:t> — Attempts to fake messages as if they came from a trusted agent.</a:t>
            </a:r>
          </a:p>
          <a:p>
            <a:pPr marL="342900" indent="-342900">
              <a:buAutoNum type="arabicPeriod"/>
            </a:pPr>
            <a:r>
              <a:rPr lang="en-US" sz="1400" b="1" dirty="0"/>
              <a:t>Context Poisoning</a:t>
            </a:r>
            <a:r>
              <a:rPr lang="en-US" sz="1400" dirty="0"/>
              <a:t> — Injecting markers that try to reset or override the agent's current task context</a:t>
            </a:r>
          </a:p>
          <a:p>
            <a:pPr marL="342900" indent="-342900">
              <a:buAutoNum type="arabicPeriod"/>
            </a:pPr>
            <a:endParaRPr lang="en-US"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5570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12  Evaluation Metrics</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4251960" cy="197510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1975104"/>
          </a:xfrm>
          <a:prstGeom prst="rect">
            <a:avLst/>
          </a:prstGeom>
          <a:solidFill>
            <a:srgbClr val="B91C1C"/>
          </a:solidFill>
          <a:ln w="12700">
            <a:solidFill>
              <a:srgbClr val="B91C1C"/>
            </a:solidFill>
            <a:prstDash val="solid"/>
          </a:ln>
        </p:spPr>
        <p:txBody>
          <a:bodyPr/>
          <a:lstStyle/>
          <a:p>
            <a:endParaRPr lang="en-IN"/>
          </a:p>
        </p:txBody>
      </p:sp>
      <p:sp>
        <p:nvSpPr>
          <p:cNvPr id="10" name="Shape 8"/>
          <p:cNvSpPr/>
          <p:nvPr/>
        </p:nvSpPr>
        <p:spPr>
          <a:xfrm>
            <a:off x="448056" y="932688"/>
            <a:ext cx="731520" cy="731520"/>
          </a:xfrm>
          <a:prstGeom prst="rect">
            <a:avLst/>
          </a:prstGeom>
          <a:solidFill>
            <a:srgbClr val="B91C1C"/>
          </a:solidFill>
          <a:ln w="12700">
            <a:solidFill>
              <a:srgbClr val="B91C1C"/>
            </a:solidFill>
            <a:prstDash val="solid"/>
          </a:ln>
        </p:spPr>
        <p:txBody>
          <a:bodyPr/>
          <a:lstStyle/>
          <a:p>
            <a:endParaRPr lang="en-IN"/>
          </a:p>
        </p:txBody>
      </p:sp>
      <p:sp>
        <p:nvSpPr>
          <p:cNvPr id="11" name="Text 9"/>
          <p:cNvSpPr/>
          <p:nvPr/>
        </p:nvSpPr>
        <p:spPr>
          <a:xfrm>
            <a:off x="448056" y="932688"/>
            <a:ext cx="731520" cy="7315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ASR</a:t>
            </a:r>
            <a:endParaRPr lang="en-US" sz="1200" dirty="0"/>
          </a:p>
        </p:txBody>
      </p:sp>
      <p:sp>
        <p:nvSpPr>
          <p:cNvPr id="12" name="Text 10"/>
          <p:cNvSpPr/>
          <p:nvPr/>
        </p:nvSpPr>
        <p:spPr>
          <a:xfrm>
            <a:off x="1271016" y="969264"/>
            <a:ext cx="3200400" cy="502920"/>
          </a:xfrm>
          <a:prstGeom prst="rect">
            <a:avLst/>
          </a:prstGeom>
          <a:noFill/>
          <a:ln/>
        </p:spPr>
        <p:txBody>
          <a:bodyPr wrap="square" rtlCol="0" anchor="ctr"/>
          <a:lstStyle/>
          <a:p>
            <a:pPr marL="0" indent="0">
              <a:buNone/>
            </a:pPr>
            <a:r>
              <a:rPr lang="en-US" sz="1350" b="1" dirty="0">
                <a:solidFill>
                  <a:srgbClr val="1A2B3C"/>
                </a:solidFill>
                <a:latin typeface="Cambria" pitchFamily="34" charset="0"/>
                <a:ea typeface="Cambria" pitchFamily="34" charset="-122"/>
                <a:cs typeface="Cambria" pitchFamily="34" charset="-120"/>
              </a:rPr>
              <a:t>Attack Success Rate</a:t>
            </a:r>
            <a:endParaRPr lang="en-US" sz="1350" dirty="0"/>
          </a:p>
        </p:txBody>
      </p:sp>
      <p:sp>
        <p:nvSpPr>
          <p:cNvPr id="13" name="Shape 11"/>
          <p:cNvSpPr/>
          <p:nvPr/>
        </p:nvSpPr>
        <p:spPr>
          <a:xfrm>
            <a:off x="448056" y="1691640"/>
            <a:ext cx="4005072" cy="347472"/>
          </a:xfrm>
          <a:prstGeom prst="rect">
            <a:avLst/>
          </a:prstGeom>
          <a:solidFill>
            <a:srgbClr val="EEF3FA"/>
          </a:solidFill>
          <a:ln w="6350">
            <a:solidFill>
              <a:srgbClr val="1A6EBD"/>
            </a:solidFill>
            <a:prstDash val="solid"/>
          </a:ln>
        </p:spPr>
        <p:txBody>
          <a:bodyPr/>
          <a:lstStyle/>
          <a:p>
            <a:endParaRPr lang="en-IN"/>
          </a:p>
        </p:txBody>
      </p:sp>
      <p:sp>
        <p:nvSpPr>
          <p:cNvPr id="14" name="Text 12"/>
          <p:cNvSpPr/>
          <p:nvPr/>
        </p:nvSpPr>
        <p:spPr>
          <a:xfrm>
            <a:off x="502920" y="1691640"/>
            <a:ext cx="3931920" cy="347472"/>
          </a:xfrm>
          <a:prstGeom prst="rect">
            <a:avLst/>
          </a:prstGeom>
          <a:noFill/>
          <a:ln/>
        </p:spPr>
        <p:txBody>
          <a:bodyPr wrap="square" rtlCol="0" anchor="ctr"/>
          <a:lstStyle/>
          <a:p>
            <a:pPr marL="0" indent="0">
              <a:buNone/>
            </a:pPr>
            <a:r>
              <a:rPr lang="en-US" sz="1050" dirty="0">
                <a:solidFill>
                  <a:srgbClr val="0F4C8A"/>
                </a:solidFill>
                <a:latin typeface="Consolas" pitchFamily="34" charset="0"/>
                <a:ea typeface="Consolas" pitchFamily="34" charset="-122"/>
                <a:cs typeface="Consolas" pitchFamily="34" charset="-120"/>
              </a:rPr>
              <a:t> Attacks Bypassed  /   Attacks Attempted</a:t>
            </a:r>
            <a:endParaRPr lang="en-US" sz="1050" dirty="0"/>
          </a:p>
        </p:txBody>
      </p:sp>
      <p:sp>
        <p:nvSpPr>
          <p:cNvPr id="15" name="Text 13"/>
          <p:cNvSpPr/>
          <p:nvPr/>
        </p:nvSpPr>
        <p:spPr>
          <a:xfrm>
            <a:off x="448056" y="2103120"/>
            <a:ext cx="4005072" cy="62179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Proportion of adversarial attacks that successfully bypass all security layers. A lower ASR indicates stronger overall defence.</a:t>
            </a:r>
            <a:endParaRPr lang="en-US" sz="1100" dirty="0"/>
          </a:p>
        </p:txBody>
      </p:sp>
      <p:sp>
        <p:nvSpPr>
          <p:cNvPr id="16" name="Shape 14"/>
          <p:cNvSpPr/>
          <p:nvPr/>
        </p:nvSpPr>
        <p:spPr>
          <a:xfrm>
            <a:off x="4727448" y="797638"/>
            <a:ext cx="4251960" cy="197510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7" name="Shape 15"/>
          <p:cNvSpPr/>
          <p:nvPr/>
        </p:nvSpPr>
        <p:spPr>
          <a:xfrm>
            <a:off x="4727448" y="804672"/>
            <a:ext cx="64008" cy="1975104"/>
          </a:xfrm>
          <a:prstGeom prst="rect">
            <a:avLst/>
          </a:prstGeom>
          <a:solidFill>
            <a:srgbClr val="1A7A4A"/>
          </a:solidFill>
          <a:ln w="12700">
            <a:solidFill>
              <a:srgbClr val="1A7A4A"/>
            </a:solidFill>
            <a:prstDash val="solid"/>
          </a:ln>
        </p:spPr>
        <p:txBody>
          <a:bodyPr/>
          <a:lstStyle/>
          <a:p>
            <a:endParaRPr lang="en-IN"/>
          </a:p>
        </p:txBody>
      </p:sp>
      <p:sp>
        <p:nvSpPr>
          <p:cNvPr id="18" name="Shape 16"/>
          <p:cNvSpPr/>
          <p:nvPr/>
        </p:nvSpPr>
        <p:spPr>
          <a:xfrm>
            <a:off x="4855464" y="932688"/>
            <a:ext cx="731520" cy="731520"/>
          </a:xfrm>
          <a:prstGeom prst="rect">
            <a:avLst/>
          </a:prstGeom>
          <a:solidFill>
            <a:srgbClr val="1A7A4A"/>
          </a:solidFill>
          <a:ln w="12700">
            <a:solidFill>
              <a:srgbClr val="1A7A4A"/>
            </a:solidFill>
            <a:prstDash val="solid"/>
          </a:ln>
        </p:spPr>
        <p:txBody>
          <a:bodyPr/>
          <a:lstStyle/>
          <a:p>
            <a:endParaRPr lang="en-IN"/>
          </a:p>
        </p:txBody>
      </p:sp>
      <p:sp>
        <p:nvSpPr>
          <p:cNvPr id="19" name="Text 17"/>
          <p:cNvSpPr/>
          <p:nvPr/>
        </p:nvSpPr>
        <p:spPr>
          <a:xfrm>
            <a:off x="4855464" y="932688"/>
            <a:ext cx="731520" cy="7315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BR</a:t>
            </a:r>
            <a:endParaRPr lang="en-US" sz="1200" dirty="0"/>
          </a:p>
        </p:txBody>
      </p:sp>
      <p:sp>
        <p:nvSpPr>
          <p:cNvPr id="20" name="Text 18"/>
          <p:cNvSpPr/>
          <p:nvPr/>
        </p:nvSpPr>
        <p:spPr>
          <a:xfrm>
            <a:off x="5678424" y="969264"/>
            <a:ext cx="3200400" cy="502920"/>
          </a:xfrm>
          <a:prstGeom prst="rect">
            <a:avLst/>
          </a:prstGeom>
          <a:noFill/>
          <a:ln/>
        </p:spPr>
        <p:txBody>
          <a:bodyPr wrap="square" rtlCol="0" anchor="ctr"/>
          <a:lstStyle/>
          <a:p>
            <a:pPr marL="0" indent="0">
              <a:buNone/>
            </a:pPr>
            <a:r>
              <a:rPr lang="en-US" sz="1350" b="1" dirty="0">
                <a:solidFill>
                  <a:srgbClr val="1A2B3C"/>
                </a:solidFill>
                <a:latin typeface="Cambria" pitchFamily="34" charset="0"/>
                <a:ea typeface="Cambria" pitchFamily="34" charset="-122"/>
                <a:cs typeface="Cambria" pitchFamily="34" charset="-120"/>
              </a:rPr>
              <a:t>Block Rate</a:t>
            </a:r>
            <a:endParaRPr lang="en-US" sz="1350" dirty="0"/>
          </a:p>
        </p:txBody>
      </p:sp>
      <p:sp>
        <p:nvSpPr>
          <p:cNvPr id="21" name="Shape 19"/>
          <p:cNvSpPr/>
          <p:nvPr/>
        </p:nvSpPr>
        <p:spPr>
          <a:xfrm>
            <a:off x="4855464" y="1691640"/>
            <a:ext cx="4005072" cy="347472"/>
          </a:xfrm>
          <a:prstGeom prst="rect">
            <a:avLst/>
          </a:prstGeom>
          <a:solidFill>
            <a:srgbClr val="EEF3FA"/>
          </a:solidFill>
          <a:ln w="6350">
            <a:solidFill>
              <a:srgbClr val="1A6EBD"/>
            </a:solidFill>
            <a:prstDash val="solid"/>
          </a:ln>
        </p:spPr>
        <p:txBody>
          <a:bodyPr/>
          <a:lstStyle/>
          <a:p>
            <a:endParaRPr lang="en-IN"/>
          </a:p>
        </p:txBody>
      </p:sp>
      <p:sp>
        <p:nvSpPr>
          <p:cNvPr id="22" name="Text 20"/>
          <p:cNvSpPr/>
          <p:nvPr/>
        </p:nvSpPr>
        <p:spPr>
          <a:xfrm>
            <a:off x="4910328" y="1691640"/>
            <a:ext cx="3931920" cy="347472"/>
          </a:xfrm>
          <a:prstGeom prst="rect">
            <a:avLst/>
          </a:prstGeom>
          <a:noFill/>
          <a:ln/>
        </p:spPr>
        <p:txBody>
          <a:bodyPr wrap="square" rtlCol="0" anchor="ctr"/>
          <a:lstStyle/>
          <a:p>
            <a:pPr marL="0" indent="0">
              <a:buNone/>
            </a:pPr>
            <a:r>
              <a:rPr lang="en-US" sz="1050" dirty="0">
                <a:solidFill>
                  <a:srgbClr val="0F4C8A"/>
                </a:solidFill>
                <a:latin typeface="Consolas" pitchFamily="34" charset="0"/>
                <a:ea typeface="Consolas" pitchFamily="34" charset="-122"/>
                <a:cs typeface="Consolas" pitchFamily="34" charset="-120"/>
              </a:rPr>
              <a:t> Attacks Blocked  /   Total Attack Attempts</a:t>
            </a:r>
            <a:endParaRPr lang="en-US" sz="1050" dirty="0"/>
          </a:p>
        </p:txBody>
      </p:sp>
      <p:sp>
        <p:nvSpPr>
          <p:cNvPr id="23" name="Text 21"/>
          <p:cNvSpPr/>
          <p:nvPr/>
        </p:nvSpPr>
        <p:spPr>
          <a:xfrm>
            <a:off x="4855464" y="2103120"/>
            <a:ext cx="4005072" cy="62179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Proportion of attack attempts successfully intercepted. Directly inverse of ASR — a high Block Rate is the primary design target.</a:t>
            </a:r>
            <a:endParaRPr lang="en-US" sz="1100" dirty="0"/>
          </a:p>
        </p:txBody>
      </p:sp>
      <p:sp>
        <p:nvSpPr>
          <p:cNvPr id="24" name="Shape 22"/>
          <p:cNvSpPr/>
          <p:nvPr/>
        </p:nvSpPr>
        <p:spPr>
          <a:xfrm>
            <a:off x="2462550" y="2807208"/>
            <a:ext cx="4251960" cy="1975104"/>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5" name="Shape 23"/>
          <p:cNvSpPr/>
          <p:nvPr/>
        </p:nvSpPr>
        <p:spPr>
          <a:xfrm>
            <a:off x="2403465" y="2823386"/>
            <a:ext cx="64008" cy="1975104"/>
          </a:xfrm>
          <a:prstGeom prst="rect">
            <a:avLst/>
          </a:prstGeom>
          <a:solidFill>
            <a:srgbClr val="1A6EBD"/>
          </a:solidFill>
          <a:ln w="12700">
            <a:solidFill>
              <a:srgbClr val="1A6EBD"/>
            </a:solidFill>
            <a:prstDash val="solid"/>
          </a:ln>
        </p:spPr>
        <p:txBody>
          <a:bodyPr/>
          <a:lstStyle/>
          <a:p>
            <a:endParaRPr lang="en-IN"/>
          </a:p>
        </p:txBody>
      </p:sp>
      <p:sp>
        <p:nvSpPr>
          <p:cNvPr id="26" name="Shape 24"/>
          <p:cNvSpPr/>
          <p:nvPr/>
        </p:nvSpPr>
        <p:spPr>
          <a:xfrm>
            <a:off x="2520930" y="2912364"/>
            <a:ext cx="731520" cy="731520"/>
          </a:xfrm>
          <a:prstGeom prst="rect">
            <a:avLst/>
          </a:prstGeom>
          <a:solidFill>
            <a:srgbClr val="1A6EBD"/>
          </a:solidFill>
          <a:ln w="12700">
            <a:solidFill>
              <a:srgbClr val="1A6EBD"/>
            </a:solidFill>
            <a:prstDash val="solid"/>
          </a:ln>
        </p:spPr>
        <p:txBody>
          <a:bodyPr/>
          <a:lstStyle/>
          <a:p>
            <a:endParaRPr lang="en-IN"/>
          </a:p>
        </p:txBody>
      </p:sp>
      <p:sp>
        <p:nvSpPr>
          <p:cNvPr id="27" name="Text 25"/>
          <p:cNvSpPr/>
          <p:nvPr/>
        </p:nvSpPr>
        <p:spPr>
          <a:xfrm>
            <a:off x="2514600" y="2939796"/>
            <a:ext cx="731520" cy="73152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DEI</a:t>
            </a:r>
            <a:endParaRPr lang="en-US" sz="1200" dirty="0"/>
          </a:p>
        </p:txBody>
      </p:sp>
      <p:sp>
        <p:nvSpPr>
          <p:cNvPr id="28" name="Text 26"/>
          <p:cNvSpPr/>
          <p:nvPr/>
        </p:nvSpPr>
        <p:spPr>
          <a:xfrm>
            <a:off x="3252450" y="2978834"/>
            <a:ext cx="3200400" cy="502920"/>
          </a:xfrm>
          <a:prstGeom prst="rect">
            <a:avLst/>
          </a:prstGeom>
          <a:noFill/>
          <a:ln/>
        </p:spPr>
        <p:txBody>
          <a:bodyPr wrap="square" rtlCol="0" anchor="ctr"/>
          <a:lstStyle/>
          <a:p>
            <a:pPr marL="0" indent="0">
              <a:buNone/>
            </a:pPr>
            <a:r>
              <a:rPr lang="en-US" sz="1350" b="1" dirty="0">
                <a:solidFill>
                  <a:srgbClr val="1A2B3C"/>
                </a:solidFill>
                <a:latin typeface="Cambria" pitchFamily="34" charset="0"/>
                <a:ea typeface="Cambria" pitchFamily="34" charset="-122"/>
                <a:cs typeface="Cambria" pitchFamily="34" charset="-120"/>
              </a:rPr>
              <a:t>Defence Effectiveness Index</a:t>
            </a:r>
            <a:endParaRPr lang="en-US" sz="1350" dirty="0"/>
          </a:p>
        </p:txBody>
      </p:sp>
      <p:sp>
        <p:nvSpPr>
          <p:cNvPr id="29" name="Shape 27"/>
          <p:cNvSpPr/>
          <p:nvPr/>
        </p:nvSpPr>
        <p:spPr>
          <a:xfrm>
            <a:off x="2585994" y="3712464"/>
            <a:ext cx="4005072" cy="347472"/>
          </a:xfrm>
          <a:prstGeom prst="rect">
            <a:avLst/>
          </a:prstGeom>
          <a:solidFill>
            <a:srgbClr val="EEF3FA"/>
          </a:solidFill>
          <a:ln w="6350">
            <a:solidFill>
              <a:srgbClr val="1A6EBD"/>
            </a:solidFill>
            <a:prstDash val="solid"/>
          </a:ln>
        </p:spPr>
        <p:txBody>
          <a:bodyPr/>
          <a:lstStyle/>
          <a:p>
            <a:endParaRPr lang="en-IN"/>
          </a:p>
        </p:txBody>
      </p:sp>
      <p:sp>
        <p:nvSpPr>
          <p:cNvPr id="30" name="Text 28"/>
          <p:cNvSpPr/>
          <p:nvPr/>
        </p:nvSpPr>
        <p:spPr>
          <a:xfrm>
            <a:off x="2659146" y="3671316"/>
            <a:ext cx="3931920" cy="347472"/>
          </a:xfrm>
          <a:prstGeom prst="rect">
            <a:avLst/>
          </a:prstGeom>
          <a:noFill/>
          <a:ln/>
        </p:spPr>
        <p:txBody>
          <a:bodyPr wrap="square" rtlCol="0" anchor="ctr"/>
          <a:lstStyle/>
          <a:p>
            <a:pPr marL="0" indent="0">
              <a:buNone/>
            </a:pPr>
            <a:r>
              <a:rPr lang="en-US" sz="1050" dirty="0">
                <a:solidFill>
                  <a:srgbClr val="0F4C8A"/>
                </a:solidFill>
                <a:latin typeface="Consolas" pitchFamily="34" charset="0"/>
                <a:ea typeface="Consolas" pitchFamily="34" charset="-122"/>
                <a:cs typeface="Consolas" pitchFamily="34" charset="-120"/>
              </a:rPr>
              <a:t>Σ ( Attack Reduction  /  ( latency Overhead )</a:t>
            </a:r>
            <a:endParaRPr lang="en-US" sz="1050" dirty="0"/>
          </a:p>
        </p:txBody>
      </p:sp>
      <p:sp>
        <p:nvSpPr>
          <p:cNvPr id="31" name="Text 29"/>
          <p:cNvSpPr/>
          <p:nvPr/>
        </p:nvSpPr>
        <p:spPr>
          <a:xfrm>
            <a:off x="2514600" y="4076817"/>
            <a:ext cx="4005072" cy="621792"/>
          </a:xfrm>
          <a:prstGeom prst="rect">
            <a:avLst/>
          </a:prstGeom>
          <a:noFill/>
          <a:ln/>
        </p:spPr>
        <p:txBody>
          <a:bodyPr wrap="square" rtlCol="0" anchor="ctr"/>
          <a:lstStyle/>
          <a:p>
            <a:pPr marL="0" indent="0">
              <a:buNone/>
            </a:pPr>
            <a:r>
              <a:rPr lang="en-US" sz="1100" dirty="0">
                <a:solidFill>
                  <a:srgbClr val="6B7C93"/>
                </a:solidFill>
                <a:latin typeface="Calibri" pitchFamily="34" charset="0"/>
                <a:ea typeface="Calibri" pitchFamily="34" charset="-122"/>
                <a:cs typeface="Calibri" pitchFamily="34" charset="-120"/>
              </a:rPr>
              <a:t>Weighted metric capturing both attack severity stopped AND system latency. A slow system that blocks attacks still scores poorly penalizing security-latency trade-offs.</a:t>
            </a:r>
            <a:endParaRPr lang="en-US" sz="1100" dirty="0"/>
          </a:p>
        </p:txBody>
      </p:sp>
      <p:sp>
        <p:nvSpPr>
          <p:cNvPr id="38" name="Text 36"/>
          <p:cNvSpPr/>
          <p:nvPr/>
        </p:nvSpPr>
        <p:spPr>
          <a:xfrm>
            <a:off x="4910328" y="3776472"/>
            <a:ext cx="3931920" cy="347472"/>
          </a:xfrm>
          <a:prstGeom prst="rect">
            <a:avLst/>
          </a:prstGeom>
          <a:noFill/>
          <a:ln/>
        </p:spPr>
        <p:txBody>
          <a:bodyPr wrap="square" rtlCol="0" anchor="ctr"/>
          <a:lstStyle/>
          <a:p>
            <a:pPr marL="0" indent="0">
              <a:buNone/>
            </a:pPr>
            <a:endParaRPr lang="en-US" sz="1050" dirty="0"/>
          </a:p>
        </p:txBody>
      </p:sp>
      <p:sp>
        <p:nvSpPr>
          <p:cNvPr id="39" name="Text 37"/>
          <p:cNvSpPr/>
          <p:nvPr/>
        </p:nvSpPr>
        <p:spPr>
          <a:xfrm>
            <a:off x="4855464" y="4187952"/>
            <a:ext cx="4005072" cy="621792"/>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0E7C9C6-690B-339A-98ED-32B92505C1C0}"/>
              </a:ext>
            </a:extLst>
          </p:cNvPr>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a:extLst>
              <a:ext uri="{FF2B5EF4-FFF2-40B4-BE49-F238E27FC236}">
                <a16:creationId xmlns:a16="http://schemas.microsoft.com/office/drawing/2014/main" id="{6E2F4918-58AD-4376-4ACF-FB906F447AF6}"/>
              </a:ext>
            </a:extLst>
          </p:cNvPr>
          <p:cNvSpPr/>
          <p:nvPr/>
        </p:nvSpPr>
        <p:spPr>
          <a:xfrm>
            <a:off x="0" y="0"/>
            <a:ext cx="164592" cy="658368"/>
          </a:xfrm>
          <a:prstGeom prst="rect">
            <a:avLst/>
          </a:prstGeom>
          <a:solidFill>
            <a:schemeClr val="tx1"/>
          </a:solidFill>
          <a:ln/>
        </p:spPr>
        <p:txBody>
          <a:bodyPr/>
          <a:lstStyle/>
          <a:p>
            <a:endParaRPr lang="en-IN"/>
          </a:p>
        </p:txBody>
      </p:sp>
      <p:sp>
        <p:nvSpPr>
          <p:cNvPr id="4" name="Text 2">
            <a:extLst>
              <a:ext uri="{FF2B5EF4-FFF2-40B4-BE49-F238E27FC236}">
                <a16:creationId xmlns:a16="http://schemas.microsoft.com/office/drawing/2014/main" id="{67383266-E9BA-2C4A-CA94-BB47B0A2E06E}"/>
              </a:ext>
            </a:extLst>
          </p:cNvPr>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13  Proposed Architecture — Overview</a:t>
            </a:r>
            <a:endParaRPr lang="en-US" sz="2200" dirty="0"/>
          </a:p>
        </p:txBody>
      </p:sp>
      <p:pic>
        <p:nvPicPr>
          <p:cNvPr id="8" name="Picture 7">
            <a:extLst>
              <a:ext uri="{FF2B5EF4-FFF2-40B4-BE49-F238E27FC236}">
                <a16:creationId xmlns:a16="http://schemas.microsoft.com/office/drawing/2014/main" id="{9530DE0C-B5A3-74E4-0B99-04F2CDB75D78}"/>
              </a:ext>
            </a:extLst>
          </p:cNvPr>
          <p:cNvPicPr>
            <a:picLocks noChangeAspect="1"/>
          </p:cNvPicPr>
          <p:nvPr/>
        </p:nvPicPr>
        <p:blipFill>
          <a:blip r:embed="rId2"/>
          <a:stretch>
            <a:fillRect/>
          </a:stretch>
        </p:blipFill>
        <p:spPr>
          <a:xfrm>
            <a:off x="292608" y="749808"/>
            <a:ext cx="7962314" cy="4211016"/>
          </a:xfrm>
          <a:prstGeom prst="rect">
            <a:avLst/>
          </a:prstGeom>
        </p:spPr>
      </p:pic>
    </p:spTree>
    <p:extLst>
      <p:ext uri="{BB962C8B-B14F-4D97-AF65-F5344CB8AC3E}">
        <p14:creationId xmlns:p14="http://schemas.microsoft.com/office/powerpoint/2010/main" val="1407190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C2AECA6-1E63-2874-2A2E-81F3802DA609}"/>
              </a:ext>
            </a:extLst>
          </p:cNvPr>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Text 2">
            <a:extLst>
              <a:ext uri="{FF2B5EF4-FFF2-40B4-BE49-F238E27FC236}">
                <a16:creationId xmlns:a16="http://schemas.microsoft.com/office/drawing/2014/main" id="{E9D52505-B085-EAD3-24FB-2DBC17024618}"/>
              </a:ext>
            </a:extLst>
          </p:cNvPr>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14  Results</a:t>
            </a:r>
            <a:endParaRPr lang="en-US" sz="2200" dirty="0"/>
          </a:p>
        </p:txBody>
      </p:sp>
      <p:pic>
        <p:nvPicPr>
          <p:cNvPr id="9" name="Picture 8">
            <a:extLst>
              <a:ext uri="{FF2B5EF4-FFF2-40B4-BE49-F238E27FC236}">
                <a16:creationId xmlns:a16="http://schemas.microsoft.com/office/drawing/2014/main" id="{70D50D39-FB40-D83D-8B35-368D0EC8FEBD}"/>
              </a:ext>
            </a:extLst>
          </p:cNvPr>
          <p:cNvPicPr>
            <a:picLocks noChangeAspect="1"/>
          </p:cNvPicPr>
          <p:nvPr/>
        </p:nvPicPr>
        <p:blipFill>
          <a:blip r:embed="rId2"/>
          <a:stretch>
            <a:fillRect/>
          </a:stretch>
        </p:blipFill>
        <p:spPr>
          <a:xfrm>
            <a:off x="236515" y="808893"/>
            <a:ext cx="3772777" cy="2263666"/>
          </a:xfrm>
          <a:prstGeom prst="rect">
            <a:avLst/>
          </a:prstGeom>
        </p:spPr>
      </p:pic>
      <p:pic>
        <p:nvPicPr>
          <p:cNvPr id="11" name="Picture 10">
            <a:extLst>
              <a:ext uri="{FF2B5EF4-FFF2-40B4-BE49-F238E27FC236}">
                <a16:creationId xmlns:a16="http://schemas.microsoft.com/office/drawing/2014/main" id="{631586DA-7480-0A9C-DB83-E2F4FAA3EDBD}"/>
              </a:ext>
            </a:extLst>
          </p:cNvPr>
          <p:cNvPicPr>
            <a:picLocks noChangeAspect="1"/>
          </p:cNvPicPr>
          <p:nvPr/>
        </p:nvPicPr>
        <p:blipFill>
          <a:blip r:embed="rId3"/>
          <a:stretch>
            <a:fillRect/>
          </a:stretch>
        </p:blipFill>
        <p:spPr>
          <a:xfrm>
            <a:off x="4423585" y="808893"/>
            <a:ext cx="4081193" cy="2398542"/>
          </a:xfrm>
          <a:prstGeom prst="rect">
            <a:avLst/>
          </a:prstGeom>
        </p:spPr>
      </p:pic>
      <p:pic>
        <p:nvPicPr>
          <p:cNvPr id="13" name="Picture 12">
            <a:extLst>
              <a:ext uri="{FF2B5EF4-FFF2-40B4-BE49-F238E27FC236}">
                <a16:creationId xmlns:a16="http://schemas.microsoft.com/office/drawing/2014/main" id="{082223B6-549C-CDFE-FD2E-8A989107FA70}"/>
              </a:ext>
            </a:extLst>
          </p:cNvPr>
          <p:cNvPicPr>
            <a:picLocks noChangeAspect="1"/>
          </p:cNvPicPr>
          <p:nvPr/>
        </p:nvPicPr>
        <p:blipFill>
          <a:blip r:embed="rId4"/>
          <a:stretch>
            <a:fillRect/>
          </a:stretch>
        </p:blipFill>
        <p:spPr>
          <a:xfrm>
            <a:off x="386003" y="3159036"/>
            <a:ext cx="3461511" cy="1845283"/>
          </a:xfrm>
          <a:prstGeom prst="rect">
            <a:avLst/>
          </a:prstGeom>
        </p:spPr>
      </p:pic>
      <p:pic>
        <p:nvPicPr>
          <p:cNvPr id="15" name="Picture 14">
            <a:extLst>
              <a:ext uri="{FF2B5EF4-FFF2-40B4-BE49-F238E27FC236}">
                <a16:creationId xmlns:a16="http://schemas.microsoft.com/office/drawing/2014/main" id="{352B0B18-8E28-F56C-7E45-6884D4A07562}"/>
              </a:ext>
            </a:extLst>
          </p:cNvPr>
          <p:cNvPicPr>
            <a:picLocks noChangeAspect="1"/>
          </p:cNvPicPr>
          <p:nvPr/>
        </p:nvPicPr>
        <p:blipFill>
          <a:blip r:embed="rId5"/>
          <a:stretch>
            <a:fillRect/>
          </a:stretch>
        </p:blipFill>
        <p:spPr>
          <a:xfrm>
            <a:off x="4489486" y="2895316"/>
            <a:ext cx="4081193" cy="2109003"/>
          </a:xfrm>
          <a:prstGeom prst="rect">
            <a:avLst/>
          </a:prstGeom>
        </p:spPr>
      </p:pic>
    </p:spTree>
    <p:extLst>
      <p:ext uri="{BB962C8B-B14F-4D97-AF65-F5344CB8AC3E}">
        <p14:creationId xmlns:p14="http://schemas.microsoft.com/office/powerpoint/2010/main" val="335399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tx1"/>
          </a:solidFill>
          <a:ln w="12700">
            <a:solidFill>
              <a:srgbClr val="1A3557"/>
            </a:solidFill>
            <a:prstDash val="solid"/>
          </a:ln>
        </p:spPr>
        <p:txBody>
          <a:bodyPr/>
          <a:lstStyle/>
          <a:p>
            <a:endParaRPr lang="en-IN"/>
          </a:p>
        </p:txBody>
      </p:sp>
      <p:sp>
        <p:nvSpPr>
          <p:cNvPr id="3" name="Shape 1"/>
          <p:cNvSpPr/>
          <p:nvPr/>
        </p:nvSpPr>
        <p:spPr>
          <a:xfrm>
            <a:off x="0" y="0"/>
            <a:ext cx="164592" cy="658368"/>
          </a:xfrm>
          <a:prstGeom prst="rect">
            <a:avLst/>
          </a:prstGeom>
          <a:solidFill>
            <a:schemeClr val="tx1"/>
          </a:solidFill>
          <a:ln/>
        </p:spPr>
        <p:txBody>
          <a:bodyPr/>
          <a:lstStyle/>
          <a:p>
            <a:endParaRPr lang="en-IN"/>
          </a:p>
        </p:txBody>
      </p:sp>
      <p:sp>
        <p:nvSpPr>
          <p:cNvPr id="4" name="Text 2"/>
          <p:cNvSpPr/>
          <p:nvPr/>
        </p:nvSpPr>
        <p:spPr>
          <a:xfrm>
            <a:off x="292608" y="0"/>
            <a:ext cx="8549640" cy="65836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15  References</a:t>
            </a:r>
            <a:endParaRPr lang="en-US" sz="2200" dirty="0"/>
          </a:p>
        </p:txBody>
      </p:sp>
      <p:sp>
        <p:nvSpPr>
          <p:cNvPr id="5" name="Shape 3"/>
          <p:cNvSpPr/>
          <p:nvPr/>
        </p:nvSpPr>
        <p:spPr>
          <a:xfrm>
            <a:off x="0" y="4956048"/>
            <a:ext cx="9144000" cy="36576"/>
          </a:xfrm>
          <a:prstGeom prst="rect">
            <a:avLst/>
          </a:prstGeom>
          <a:solidFill>
            <a:srgbClr val="1A6EBD"/>
          </a:solidFill>
          <a:ln/>
        </p:spPr>
        <p:txBody>
          <a:bodyPr/>
          <a:lstStyle/>
          <a:p>
            <a:endParaRPr lang="en-IN"/>
          </a:p>
        </p:txBody>
      </p:sp>
      <p:sp>
        <p:nvSpPr>
          <p:cNvPr id="6" name="Text 4"/>
          <p:cNvSpPr/>
          <p:nvPr/>
        </p:nvSpPr>
        <p:spPr>
          <a:xfrm>
            <a:off x="274320" y="5001768"/>
            <a:ext cx="5943600" cy="182880"/>
          </a:xfrm>
          <a:prstGeom prst="rect">
            <a:avLst/>
          </a:prstGeom>
          <a:noFill/>
          <a:ln/>
        </p:spPr>
        <p:txBody>
          <a:bodyPr wrap="square" rtlCol="0" anchor="ctr"/>
          <a:lstStyle/>
          <a:p>
            <a:pPr marL="0" indent="0">
              <a:buNone/>
            </a:pPr>
            <a:r>
              <a:rPr lang="en-US" sz="850" dirty="0">
                <a:solidFill>
                  <a:srgbClr val="6B7C93"/>
                </a:solidFill>
                <a:latin typeface="Calibri" pitchFamily="34" charset="0"/>
                <a:ea typeface="Calibri" pitchFamily="34" charset="-122"/>
                <a:cs typeface="Calibri" pitchFamily="34" charset="-120"/>
              </a:rPr>
              <a:t>Securing Agentic AI  ·  Tharun S  ·  CB.SC.P2CYS24019</a:t>
            </a:r>
            <a:endParaRPr lang="en-US" sz="850" dirty="0"/>
          </a:p>
        </p:txBody>
      </p:sp>
      <p:sp>
        <p:nvSpPr>
          <p:cNvPr id="7" name="Text 5"/>
          <p:cNvSpPr/>
          <p:nvPr/>
        </p:nvSpPr>
        <p:spPr>
          <a:xfrm>
            <a:off x="6400800" y="5001768"/>
            <a:ext cx="2560320" cy="182880"/>
          </a:xfrm>
          <a:prstGeom prst="rect">
            <a:avLst/>
          </a:prstGeom>
          <a:noFill/>
          <a:ln/>
        </p:spPr>
        <p:txBody>
          <a:bodyPr wrap="square" rtlCol="0" anchor="ctr"/>
          <a:lstStyle/>
          <a:p>
            <a:pPr marL="0" indent="0" algn="r">
              <a:buNone/>
            </a:pPr>
            <a:r>
              <a:rPr lang="en-US" sz="850" dirty="0">
                <a:solidFill>
                  <a:srgbClr val="6B7C93"/>
                </a:solidFill>
                <a:latin typeface="Calibri" pitchFamily="34" charset="0"/>
                <a:ea typeface="Calibri" pitchFamily="34" charset="-122"/>
                <a:cs typeface="Calibri" pitchFamily="34" charset="-120"/>
              </a:rPr>
              <a:t>TIFAC-CORE in Cyber Security</a:t>
            </a:r>
            <a:endParaRPr lang="en-US" sz="850" dirty="0"/>
          </a:p>
        </p:txBody>
      </p:sp>
      <p:sp>
        <p:nvSpPr>
          <p:cNvPr id="8" name="Shape 6"/>
          <p:cNvSpPr/>
          <p:nvPr/>
        </p:nvSpPr>
        <p:spPr>
          <a:xfrm>
            <a:off x="320040" y="80467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320040" y="804672"/>
            <a:ext cx="64008" cy="493776"/>
          </a:xfrm>
          <a:prstGeom prst="rect">
            <a:avLst/>
          </a:prstGeom>
          <a:solidFill>
            <a:srgbClr val="1A6EBD"/>
          </a:solidFill>
          <a:ln w="12700">
            <a:solidFill>
              <a:srgbClr val="1A6EBD"/>
            </a:solidFill>
            <a:prstDash val="solid"/>
          </a:ln>
        </p:spPr>
        <p:txBody>
          <a:bodyPr/>
          <a:lstStyle/>
          <a:p>
            <a:endParaRPr lang="en-IN"/>
          </a:p>
        </p:txBody>
      </p:sp>
      <p:sp>
        <p:nvSpPr>
          <p:cNvPr id="10" name="Text 8"/>
          <p:cNvSpPr/>
          <p:nvPr/>
        </p:nvSpPr>
        <p:spPr>
          <a:xfrm>
            <a:off x="484632" y="85953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[01]  </a:t>
            </a:r>
            <a:r>
              <a:rPr lang="en-US" sz="980" dirty="0">
                <a:solidFill>
                  <a:srgbClr val="2E4057"/>
                </a:solidFill>
                <a:latin typeface="Calibri" pitchFamily="34" charset="0"/>
                <a:ea typeface="Calibri" pitchFamily="34" charset="-122"/>
                <a:cs typeface="Calibri" pitchFamily="34" charset="-120"/>
              </a:rPr>
              <a:t>Deng et al. (2024). AI Agents Under Threat: A Survey of Key Security Challenges. ACM Digital Library.</a:t>
            </a:r>
            <a:endParaRPr lang="en-US" sz="980" dirty="0"/>
          </a:p>
        </p:txBody>
      </p:sp>
      <p:sp>
        <p:nvSpPr>
          <p:cNvPr id="11" name="Shape 9"/>
          <p:cNvSpPr/>
          <p:nvPr/>
        </p:nvSpPr>
        <p:spPr>
          <a:xfrm>
            <a:off x="4727448" y="80467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2" name="Shape 10"/>
          <p:cNvSpPr/>
          <p:nvPr/>
        </p:nvSpPr>
        <p:spPr>
          <a:xfrm>
            <a:off x="4727448" y="804672"/>
            <a:ext cx="64008" cy="493776"/>
          </a:xfrm>
          <a:prstGeom prst="rect">
            <a:avLst/>
          </a:prstGeom>
          <a:solidFill>
            <a:srgbClr val="1A6EBD"/>
          </a:solidFill>
          <a:ln w="12700">
            <a:solidFill>
              <a:srgbClr val="1A6EBD"/>
            </a:solidFill>
            <a:prstDash val="solid"/>
          </a:ln>
        </p:spPr>
        <p:txBody>
          <a:bodyPr/>
          <a:lstStyle/>
          <a:p>
            <a:endParaRPr lang="en-IN"/>
          </a:p>
        </p:txBody>
      </p:sp>
      <p:sp>
        <p:nvSpPr>
          <p:cNvPr id="13" name="Text 11"/>
          <p:cNvSpPr/>
          <p:nvPr/>
        </p:nvSpPr>
        <p:spPr>
          <a:xfrm>
            <a:off x="4892040" y="85953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[02]  </a:t>
            </a:r>
            <a:r>
              <a:rPr lang="en-US" sz="980" dirty="0">
                <a:solidFill>
                  <a:srgbClr val="2E4057"/>
                </a:solidFill>
                <a:latin typeface="Calibri" pitchFamily="34" charset="0"/>
                <a:ea typeface="Calibri" pitchFamily="34" charset="-122"/>
                <a:cs typeface="Calibri" pitchFamily="34" charset="-120"/>
              </a:rPr>
              <a:t>OWASP Foundation (2023–2025). OWASP Top 10 for LLM Applications. genai.owasp.org/llmrisk/llm01-prompt-injection</a:t>
            </a:r>
            <a:endParaRPr lang="en-US" sz="980" dirty="0"/>
          </a:p>
        </p:txBody>
      </p:sp>
      <p:sp>
        <p:nvSpPr>
          <p:cNvPr id="14" name="Shape 12"/>
          <p:cNvSpPr/>
          <p:nvPr/>
        </p:nvSpPr>
        <p:spPr>
          <a:xfrm>
            <a:off x="320040" y="135331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5" name="Shape 13"/>
          <p:cNvSpPr/>
          <p:nvPr/>
        </p:nvSpPr>
        <p:spPr>
          <a:xfrm>
            <a:off x="320040" y="1353312"/>
            <a:ext cx="64008" cy="493776"/>
          </a:xfrm>
          <a:prstGeom prst="rect">
            <a:avLst/>
          </a:prstGeom>
          <a:solidFill>
            <a:srgbClr val="1A6EBD"/>
          </a:solidFill>
          <a:ln w="12700">
            <a:solidFill>
              <a:srgbClr val="1A6EBD"/>
            </a:solidFill>
            <a:prstDash val="solid"/>
          </a:ln>
        </p:spPr>
        <p:txBody>
          <a:bodyPr/>
          <a:lstStyle/>
          <a:p>
            <a:endParaRPr lang="en-IN"/>
          </a:p>
        </p:txBody>
      </p:sp>
      <p:sp>
        <p:nvSpPr>
          <p:cNvPr id="16" name="Text 14"/>
          <p:cNvSpPr/>
          <p:nvPr/>
        </p:nvSpPr>
        <p:spPr>
          <a:xfrm>
            <a:off x="484632" y="140817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[03]  </a:t>
            </a:r>
            <a:r>
              <a:rPr lang="en-US" sz="980" dirty="0">
                <a:solidFill>
                  <a:srgbClr val="2E4057"/>
                </a:solidFill>
                <a:latin typeface="Calibri" pitchFamily="34" charset="0"/>
                <a:ea typeface="Calibri" pitchFamily="34" charset="-122"/>
                <a:cs typeface="Calibri" pitchFamily="34" charset="-120"/>
              </a:rPr>
              <a:t>Palo Alto Networks Unit 42 (2025). AI Agents Are Here. So Are the Threats. unit42.paloaltonetworks.com </a:t>
            </a:r>
            <a:endParaRPr lang="en-US" sz="980" dirty="0"/>
          </a:p>
        </p:txBody>
      </p:sp>
      <p:sp>
        <p:nvSpPr>
          <p:cNvPr id="17" name="Shape 15"/>
          <p:cNvSpPr/>
          <p:nvPr/>
        </p:nvSpPr>
        <p:spPr>
          <a:xfrm>
            <a:off x="4727448" y="135331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18" name="Shape 16"/>
          <p:cNvSpPr/>
          <p:nvPr/>
        </p:nvSpPr>
        <p:spPr>
          <a:xfrm>
            <a:off x="4727448" y="1353312"/>
            <a:ext cx="64008" cy="493776"/>
          </a:xfrm>
          <a:prstGeom prst="rect">
            <a:avLst/>
          </a:prstGeom>
          <a:solidFill>
            <a:srgbClr val="1A6EBD"/>
          </a:solidFill>
          <a:ln w="12700">
            <a:solidFill>
              <a:srgbClr val="1A6EBD"/>
            </a:solidFill>
            <a:prstDash val="solid"/>
          </a:ln>
        </p:spPr>
        <p:txBody>
          <a:bodyPr/>
          <a:lstStyle/>
          <a:p>
            <a:endParaRPr lang="en-IN"/>
          </a:p>
        </p:txBody>
      </p:sp>
      <p:sp>
        <p:nvSpPr>
          <p:cNvPr id="19" name="Text 17"/>
          <p:cNvSpPr/>
          <p:nvPr/>
        </p:nvSpPr>
        <p:spPr>
          <a:xfrm>
            <a:off x="4892040" y="140817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[04]  </a:t>
            </a:r>
            <a:r>
              <a:rPr lang="en-US" sz="980" dirty="0">
                <a:solidFill>
                  <a:srgbClr val="2E4057"/>
                </a:solidFill>
                <a:latin typeface="Calibri" pitchFamily="34" charset="0"/>
                <a:ea typeface="Calibri" pitchFamily="34" charset="-122"/>
                <a:cs typeface="Calibri" pitchFamily="34" charset="-120"/>
              </a:rPr>
              <a:t>Zhang et al. (2025). Agent Security Bench (ASB): Benchmarking LLM Agents. ICLR 2025.</a:t>
            </a:r>
            <a:endParaRPr lang="en-US" sz="980" dirty="0"/>
          </a:p>
        </p:txBody>
      </p:sp>
      <p:sp>
        <p:nvSpPr>
          <p:cNvPr id="20" name="Shape 18"/>
          <p:cNvSpPr/>
          <p:nvPr/>
        </p:nvSpPr>
        <p:spPr>
          <a:xfrm>
            <a:off x="320040" y="190195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1" name="Shape 19"/>
          <p:cNvSpPr/>
          <p:nvPr/>
        </p:nvSpPr>
        <p:spPr>
          <a:xfrm>
            <a:off x="320040" y="1901952"/>
            <a:ext cx="64008" cy="493776"/>
          </a:xfrm>
          <a:prstGeom prst="rect">
            <a:avLst/>
          </a:prstGeom>
          <a:solidFill>
            <a:srgbClr val="1A6EBD"/>
          </a:solidFill>
          <a:ln w="12700">
            <a:solidFill>
              <a:srgbClr val="1A6EBD"/>
            </a:solidFill>
            <a:prstDash val="solid"/>
          </a:ln>
        </p:spPr>
        <p:txBody>
          <a:bodyPr/>
          <a:lstStyle/>
          <a:p>
            <a:endParaRPr lang="en-IN"/>
          </a:p>
        </p:txBody>
      </p:sp>
      <p:sp>
        <p:nvSpPr>
          <p:cNvPr id="22" name="Text 20"/>
          <p:cNvSpPr/>
          <p:nvPr/>
        </p:nvSpPr>
        <p:spPr>
          <a:xfrm>
            <a:off x="484632" y="195681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[05]  </a:t>
            </a:r>
            <a:r>
              <a:rPr lang="en-US" sz="980" dirty="0">
                <a:solidFill>
                  <a:srgbClr val="2E4057"/>
                </a:solidFill>
                <a:latin typeface="Calibri" pitchFamily="34" charset="0"/>
                <a:ea typeface="Calibri" pitchFamily="34" charset="-122"/>
                <a:cs typeface="Calibri" pitchFamily="34" charset="-120"/>
              </a:rPr>
              <a:t>Auth0 / Okta (2025). Access Control in the Era of AI Agents. auth0.com</a:t>
            </a:r>
            <a:endParaRPr lang="en-US" sz="980" dirty="0"/>
          </a:p>
        </p:txBody>
      </p:sp>
      <p:sp>
        <p:nvSpPr>
          <p:cNvPr id="23" name="Shape 21"/>
          <p:cNvSpPr/>
          <p:nvPr/>
        </p:nvSpPr>
        <p:spPr>
          <a:xfrm>
            <a:off x="4727448" y="190195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4" name="Shape 22"/>
          <p:cNvSpPr/>
          <p:nvPr/>
        </p:nvSpPr>
        <p:spPr>
          <a:xfrm>
            <a:off x="4727448" y="1901952"/>
            <a:ext cx="64008" cy="493776"/>
          </a:xfrm>
          <a:prstGeom prst="rect">
            <a:avLst/>
          </a:prstGeom>
          <a:solidFill>
            <a:srgbClr val="1A6EBD"/>
          </a:solidFill>
          <a:ln w="12700">
            <a:solidFill>
              <a:srgbClr val="1A6EBD"/>
            </a:solidFill>
            <a:prstDash val="solid"/>
          </a:ln>
        </p:spPr>
        <p:txBody>
          <a:bodyPr/>
          <a:lstStyle/>
          <a:p>
            <a:endParaRPr lang="en-IN"/>
          </a:p>
        </p:txBody>
      </p:sp>
      <p:sp>
        <p:nvSpPr>
          <p:cNvPr id="25" name="Text 23"/>
          <p:cNvSpPr/>
          <p:nvPr/>
        </p:nvSpPr>
        <p:spPr>
          <a:xfrm>
            <a:off x="4892040" y="195681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[06]  </a:t>
            </a:r>
            <a:r>
              <a:rPr lang="en-US" sz="980" dirty="0">
                <a:solidFill>
                  <a:srgbClr val="2E4057"/>
                </a:solidFill>
                <a:latin typeface="Calibri" pitchFamily="34" charset="0"/>
                <a:ea typeface="Calibri" pitchFamily="34" charset="-122"/>
                <a:cs typeface="Calibri" pitchFamily="34" charset="-120"/>
              </a:rPr>
              <a:t>Li et al. (2025). A Vision for Access Control in LLM-based Agent Systems (AAC). arXiv.</a:t>
            </a:r>
            <a:endParaRPr lang="en-US" sz="980" dirty="0"/>
          </a:p>
        </p:txBody>
      </p:sp>
      <p:sp>
        <p:nvSpPr>
          <p:cNvPr id="26" name="Shape 24"/>
          <p:cNvSpPr/>
          <p:nvPr/>
        </p:nvSpPr>
        <p:spPr>
          <a:xfrm>
            <a:off x="320040" y="245059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27" name="Shape 25"/>
          <p:cNvSpPr/>
          <p:nvPr/>
        </p:nvSpPr>
        <p:spPr>
          <a:xfrm>
            <a:off x="320040" y="2450592"/>
            <a:ext cx="64008" cy="493776"/>
          </a:xfrm>
          <a:prstGeom prst="rect">
            <a:avLst/>
          </a:prstGeom>
          <a:solidFill>
            <a:srgbClr val="1A6EBD"/>
          </a:solidFill>
          <a:ln w="12700">
            <a:solidFill>
              <a:srgbClr val="1A6EBD"/>
            </a:solidFill>
            <a:prstDash val="solid"/>
          </a:ln>
        </p:spPr>
        <p:txBody>
          <a:bodyPr/>
          <a:lstStyle/>
          <a:p>
            <a:endParaRPr lang="en-IN"/>
          </a:p>
        </p:txBody>
      </p:sp>
      <p:sp>
        <p:nvSpPr>
          <p:cNvPr id="28" name="Text 26"/>
          <p:cNvSpPr/>
          <p:nvPr/>
        </p:nvSpPr>
        <p:spPr>
          <a:xfrm>
            <a:off x="484632" y="250545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[07]  </a:t>
            </a:r>
            <a:r>
              <a:rPr lang="en-US" sz="980" dirty="0">
                <a:solidFill>
                  <a:srgbClr val="2E4057"/>
                </a:solidFill>
                <a:latin typeface="Calibri" pitchFamily="34" charset="0"/>
                <a:ea typeface="Calibri" pitchFamily="34" charset="-122"/>
                <a:cs typeface="Calibri" pitchFamily="34" charset="-120"/>
              </a:rPr>
              <a:t>Farquhar et al. (2024). Detecting Hallucinations via Semantic Entropy. Nature, 630.</a:t>
            </a:r>
            <a:endParaRPr lang="en-US" sz="980" dirty="0"/>
          </a:p>
        </p:txBody>
      </p:sp>
      <p:sp>
        <p:nvSpPr>
          <p:cNvPr id="29" name="Shape 27"/>
          <p:cNvSpPr/>
          <p:nvPr/>
        </p:nvSpPr>
        <p:spPr>
          <a:xfrm>
            <a:off x="4727448" y="245059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0" name="Shape 28"/>
          <p:cNvSpPr/>
          <p:nvPr/>
        </p:nvSpPr>
        <p:spPr>
          <a:xfrm>
            <a:off x="4727448" y="2450592"/>
            <a:ext cx="64008" cy="493776"/>
          </a:xfrm>
          <a:prstGeom prst="rect">
            <a:avLst/>
          </a:prstGeom>
          <a:solidFill>
            <a:srgbClr val="1A6EBD"/>
          </a:solidFill>
          <a:ln w="12700">
            <a:solidFill>
              <a:srgbClr val="1A6EBD"/>
            </a:solidFill>
            <a:prstDash val="solid"/>
          </a:ln>
        </p:spPr>
        <p:txBody>
          <a:bodyPr/>
          <a:lstStyle/>
          <a:p>
            <a:endParaRPr lang="en-IN"/>
          </a:p>
        </p:txBody>
      </p:sp>
      <p:sp>
        <p:nvSpPr>
          <p:cNvPr id="31" name="Text 29"/>
          <p:cNvSpPr/>
          <p:nvPr/>
        </p:nvSpPr>
        <p:spPr>
          <a:xfrm>
            <a:off x="4892040" y="250545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[08]  </a:t>
            </a:r>
            <a:r>
              <a:rPr lang="en-US" sz="980" dirty="0">
                <a:solidFill>
                  <a:srgbClr val="2E4057"/>
                </a:solidFill>
                <a:latin typeface="Calibri" pitchFamily="34" charset="0"/>
                <a:ea typeface="Calibri" pitchFamily="34" charset="-122"/>
                <a:cs typeface="Calibri" pitchFamily="34" charset="-120"/>
              </a:rPr>
              <a:t>arXiv:2406.02630 (2024). Cost-Effective Hallucination Detection via NLI + Semantic Similarity.</a:t>
            </a:r>
            <a:endParaRPr lang="en-US" sz="980" dirty="0"/>
          </a:p>
        </p:txBody>
      </p:sp>
      <p:sp>
        <p:nvSpPr>
          <p:cNvPr id="32" name="Shape 30"/>
          <p:cNvSpPr/>
          <p:nvPr/>
        </p:nvSpPr>
        <p:spPr>
          <a:xfrm>
            <a:off x="320040" y="299923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3" name="Shape 31"/>
          <p:cNvSpPr/>
          <p:nvPr/>
        </p:nvSpPr>
        <p:spPr>
          <a:xfrm>
            <a:off x="320040" y="2999232"/>
            <a:ext cx="64008" cy="493776"/>
          </a:xfrm>
          <a:prstGeom prst="rect">
            <a:avLst/>
          </a:prstGeom>
          <a:solidFill>
            <a:srgbClr val="1A6EBD"/>
          </a:solidFill>
          <a:ln w="12700">
            <a:solidFill>
              <a:srgbClr val="1A6EBD"/>
            </a:solidFill>
            <a:prstDash val="solid"/>
          </a:ln>
        </p:spPr>
        <p:txBody>
          <a:bodyPr/>
          <a:lstStyle/>
          <a:p>
            <a:endParaRPr lang="en-IN"/>
          </a:p>
        </p:txBody>
      </p:sp>
      <p:sp>
        <p:nvSpPr>
          <p:cNvPr id="34" name="Text 32"/>
          <p:cNvSpPr/>
          <p:nvPr/>
        </p:nvSpPr>
        <p:spPr>
          <a:xfrm>
            <a:off x="484632" y="305409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[09]  </a:t>
            </a:r>
            <a:r>
              <a:rPr lang="en-US" sz="980" dirty="0">
                <a:solidFill>
                  <a:srgbClr val="2E4057"/>
                </a:solidFill>
                <a:latin typeface="Calibri" pitchFamily="34" charset="0"/>
                <a:ea typeface="Calibri" pitchFamily="34" charset="-122"/>
                <a:cs typeface="Calibri" pitchFamily="34" charset="-120"/>
              </a:rPr>
              <a:t>Debenedetti et al. (2025). CaMeL: Defeating Prompt Injections by Design. arXiv:2503.18813.</a:t>
            </a:r>
            <a:endParaRPr lang="en-US" sz="980" dirty="0"/>
          </a:p>
        </p:txBody>
      </p:sp>
      <p:sp>
        <p:nvSpPr>
          <p:cNvPr id="35" name="Shape 33"/>
          <p:cNvSpPr/>
          <p:nvPr/>
        </p:nvSpPr>
        <p:spPr>
          <a:xfrm>
            <a:off x="4727448" y="299923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6" name="Shape 34"/>
          <p:cNvSpPr/>
          <p:nvPr/>
        </p:nvSpPr>
        <p:spPr>
          <a:xfrm>
            <a:off x="4727448" y="2999232"/>
            <a:ext cx="64008" cy="493776"/>
          </a:xfrm>
          <a:prstGeom prst="rect">
            <a:avLst/>
          </a:prstGeom>
          <a:solidFill>
            <a:srgbClr val="1A6EBD"/>
          </a:solidFill>
          <a:ln w="12700">
            <a:solidFill>
              <a:srgbClr val="1A6EBD"/>
            </a:solidFill>
            <a:prstDash val="solid"/>
          </a:ln>
        </p:spPr>
        <p:txBody>
          <a:bodyPr/>
          <a:lstStyle/>
          <a:p>
            <a:endParaRPr lang="en-IN"/>
          </a:p>
        </p:txBody>
      </p:sp>
      <p:sp>
        <p:nvSpPr>
          <p:cNvPr id="37" name="Text 35"/>
          <p:cNvSpPr/>
          <p:nvPr/>
        </p:nvSpPr>
        <p:spPr>
          <a:xfrm>
            <a:off x="4892040" y="305409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[10]  </a:t>
            </a:r>
            <a:r>
              <a:rPr lang="en-US" sz="980" dirty="0">
                <a:solidFill>
                  <a:srgbClr val="2E4057"/>
                </a:solidFill>
                <a:latin typeface="Calibri" pitchFamily="34" charset="0"/>
                <a:ea typeface="Calibri" pitchFamily="34" charset="-122"/>
                <a:cs typeface="Calibri" pitchFamily="34" charset="-120"/>
              </a:rPr>
              <a:t>AAGATE (2025). NIST AI RMF-aligned Agentic Governance. Threat mapping, enforcement, monitoring.</a:t>
            </a:r>
            <a:endParaRPr lang="en-US" sz="980" dirty="0"/>
          </a:p>
        </p:txBody>
      </p:sp>
      <p:sp>
        <p:nvSpPr>
          <p:cNvPr id="38" name="Shape 36"/>
          <p:cNvSpPr/>
          <p:nvPr/>
        </p:nvSpPr>
        <p:spPr>
          <a:xfrm>
            <a:off x="320040" y="354787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39" name="Shape 37"/>
          <p:cNvSpPr/>
          <p:nvPr/>
        </p:nvSpPr>
        <p:spPr>
          <a:xfrm>
            <a:off x="320040" y="3547872"/>
            <a:ext cx="64008" cy="493776"/>
          </a:xfrm>
          <a:prstGeom prst="rect">
            <a:avLst/>
          </a:prstGeom>
          <a:solidFill>
            <a:srgbClr val="1A6EBD"/>
          </a:solidFill>
          <a:ln w="12700">
            <a:solidFill>
              <a:srgbClr val="1A6EBD"/>
            </a:solidFill>
            <a:prstDash val="solid"/>
          </a:ln>
        </p:spPr>
        <p:txBody>
          <a:bodyPr/>
          <a:lstStyle/>
          <a:p>
            <a:endParaRPr lang="en-IN"/>
          </a:p>
        </p:txBody>
      </p:sp>
      <p:sp>
        <p:nvSpPr>
          <p:cNvPr id="40" name="Text 38"/>
          <p:cNvSpPr/>
          <p:nvPr/>
        </p:nvSpPr>
        <p:spPr>
          <a:xfrm>
            <a:off x="484632" y="360273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[11]  </a:t>
            </a:r>
            <a:r>
              <a:rPr lang="en-US" sz="980" dirty="0">
                <a:solidFill>
                  <a:srgbClr val="2E4057"/>
                </a:solidFill>
                <a:latin typeface="Calibri" pitchFamily="34" charset="0"/>
                <a:ea typeface="Calibri" pitchFamily="34" charset="-122"/>
                <a:cs typeface="Calibri" pitchFamily="34" charset="-120"/>
              </a:rPr>
              <a:t>arXiv:2601.17548 (2025). Prompt Injection Attacks on Agentic Coding Assistants: A Systematic Analysis. (78 studies, ASR &gt; 85%)</a:t>
            </a:r>
            <a:endParaRPr lang="en-US" sz="980" dirty="0"/>
          </a:p>
        </p:txBody>
      </p:sp>
      <p:sp>
        <p:nvSpPr>
          <p:cNvPr id="41" name="Shape 39"/>
          <p:cNvSpPr/>
          <p:nvPr/>
        </p:nvSpPr>
        <p:spPr>
          <a:xfrm>
            <a:off x="4727448" y="354787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42" name="Shape 40"/>
          <p:cNvSpPr/>
          <p:nvPr/>
        </p:nvSpPr>
        <p:spPr>
          <a:xfrm>
            <a:off x="4727448" y="3547872"/>
            <a:ext cx="64008" cy="493776"/>
          </a:xfrm>
          <a:prstGeom prst="rect">
            <a:avLst/>
          </a:prstGeom>
          <a:solidFill>
            <a:srgbClr val="1A6EBD"/>
          </a:solidFill>
          <a:ln w="12700">
            <a:solidFill>
              <a:srgbClr val="1A6EBD"/>
            </a:solidFill>
            <a:prstDash val="solid"/>
          </a:ln>
        </p:spPr>
        <p:txBody>
          <a:bodyPr/>
          <a:lstStyle/>
          <a:p>
            <a:endParaRPr lang="en-IN"/>
          </a:p>
        </p:txBody>
      </p:sp>
      <p:sp>
        <p:nvSpPr>
          <p:cNvPr id="43" name="Text 41"/>
          <p:cNvSpPr/>
          <p:nvPr/>
        </p:nvSpPr>
        <p:spPr>
          <a:xfrm>
            <a:off x="4892040" y="360273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[12]  </a:t>
            </a:r>
            <a:r>
              <a:rPr lang="en-US" sz="980" dirty="0">
                <a:solidFill>
                  <a:srgbClr val="2E4057"/>
                </a:solidFill>
                <a:latin typeface="Calibri" pitchFamily="34" charset="0"/>
                <a:ea typeface="Calibri" pitchFamily="34" charset="-122"/>
                <a:cs typeface="Calibri" pitchFamily="34" charset="-120"/>
              </a:rPr>
              <a:t>MDPI Information 17(1):54 (2026). Prompt Injection Attacks in LLMs and AI Agent Systems. mdpi.com/2078-2489/17/1/54</a:t>
            </a:r>
            <a:endParaRPr lang="en-US" sz="980" dirty="0"/>
          </a:p>
        </p:txBody>
      </p:sp>
      <p:sp>
        <p:nvSpPr>
          <p:cNvPr id="44" name="Shape 42"/>
          <p:cNvSpPr/>
          <p:nvPr/>
        </p:nvSpPr>
        <p:spPr>
          <a:xfrm>
            <a:off x="320040" y="409651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45" name="Shape 43"/>
          <p:cNvSpPr/>
          <p:nvPr/>
        </p:nvSpPr>
        <p:spPr>
          <a:xfrm>
            <a:off x="320040" y="4096512"/>
            <a:ext cx="64008" cy="493776"/>
          </a:xfrm>
          <a:prstGeom prst="rect">
            <a:avLst/>
          </a:prstGeom>
          <a:solidFill>
            <a:srgbClr val="1A6EBD"/>
          </a:solidFill>
          <a:ln w="12700">
            <a:solidFill>
              <a:srgbClr val="1A6EBD"/>
            </a:solidFill>
            <a:prstDash val="solid"/>
          </a:ln>
        </p:spPr>
        <p:txBody>
          <a:bodyPr/>
          <a:lstStyle/>
          <a:p>
            <a:endParaRPr lang="en-IN"/>
          </a:p>
        </p:txBody>
      </p:sp>
      <p:sp>
        <p:nvSpPr>
          <p:cNvPr id="46" name="Text 44"/>
          <p:cNvSpPr/>
          <p:nvPr/>
        </p:nvSpPr>
        <p:spPr>
          <a:xfrm>
            <a:off x="484632" y="415137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[13]  </a:t>
            </a:r>
            <a:r>
              <a:rPr lang="en-US" sz="980" dirty="0">
                <a:solidFill>
                  <a:srgbClr val="2E4057"/>
                </a:solidFill>
                <a:latin typeface="Calibri" pitchFamily="34" charset="0"/>
                <a:ea typeface="Calibri" pitchFamily="34" charset="-122"/>
                <a:cs typeface="Calibri" pitchFamily="34" charset="-120"/>
              </a:rPr>
              <a:t>ScienceDirect (2025). From Prompt Injections to Protocol Exploits: Threats in LLM-Powered AI Agent Workflows.</a:t>
            </a:r>
            <a:endParaRPr lang="en-US" sz="980" dirty="0"/>
          </a:p>
        </p:txBody>
      </p:sp>
      <p:sp>
        <p:nvSpPr>
          <p:cNvPr id="47" name="Shape 45"/>
          <p:cNvSpPr/>
          <p:nvPr/>
        </p:nvSpPr>
        <p:spPr>
          <a:xfrm>
            <a:off x="4727448" y="4096512"/>
            <a:ext cx="4251960" cy="493776"/>
          </a:xfrm>
          <a:prstGeom prst="rect">
            <a:avLst/>
          </a:prstGeom>
          <a:solidFill>
            <a:srgbClr val="FFFFFF"/>
          </a:solidFill>
          <a:ln w="10160">
            <a:solidFill>
              <a:srgbClr val="C8D8E8"/>
            </a:solidFill>
            <a:prstDash val="solid"/>
          </a:ln>
          <a:effectLst>
            <a:outerShdw blurRad="63500" dist="25400" dir="8100000" algn="bl" rotWithShape="0">
              <a:srgbClr val="000000">
                <a:alpha val="8000"/>
              </a:srgbClr>
            </a:outerShdw>
          </a:effectLst>
        </p:spPr>
        <p:txBody>
          <a:bodyPr/>
          <a:lstStyle/>
          <a:p>
            <a:endParaRPr lang="en-IN"/>
          </a:p>
        </p:txBody>
      </p:sp>
      <p:sp>
        <p:nvSpPr>
          <p:cNvPr id="48" name="Shape 46"/>
          <p:cNvSpPr/>
          <p:nvPr/>
        </p:nvSpPr>
        <p:spPr>
          <a:xfrm>
            <a:off x="4727448" y="4096512"/>
            <a:ext cx="64008" cy="493776"/>
          </a:xfrm>
          <a:prstGeom prst="rect">
            <a:avLst/>
          </a:prstGeom>
          <a:solidFill>
            <a:srgbClr val="1A6EBD"/>
          </a:solidFill>
          <a:ln w="12700">
            <a:solidFill>
              <a:srgbClr val="1A6EBD"/>
            </a:solidFill>
            <a:prstDash val="solid"/>
          </a:ln>
        </p:spPr>
        <p:txBody>
          <a:bodyPr/>
          <a:lstStyle/>
          <a:p>
            <a:endParaRPr lang="en-IN"/>
          </a:p>
        </p:txBody>
      </p:sp>
      <p:sp>
        <p:nvSpPr>
          <p:cNvPr id="49" name="Text 47"/>
          <p:cNvSpPr/>
          <p:nvPr/>
        </p:nvSpPr>
        <p:spPr>
          <a:xfrm>
            <a:off x="4892040" y="4151376"/>
            <a:ext cx="4005072" cy="420624"/>
          </a:xfrm>
          <a:prstGeom prst="rect">
            <a:avLst/>
          </a:prstGeom>
          <a:noFill/>
          <a:ln/>
        </p:spPr>
        <p:txBody>
          <a:bodyPr wrap="square" rtlCol="0" anchor="t"/>
          <a:lstStyle/>
          <a:p>
            <a:pPr marL="0" indent="0">
              <a:buNone/>
            </a:pPr>
            <a:r>
              <a:rPr lang="en-US" sz="980" b="1" dirty="0">
                <a:solidFill>
                  <a:srgbClr val="1A6EBD"/>
                </a:solidFill>
                <a:latin typeface="Calibri" pitchFamily="34" charset="0"/>
                <a:ea typeface="Calibri" pitchFamily="34" charset="-122"/>
                <a:cs typeface="Calibri" pitchFamily="34" charset="-120"/>
              </a:rPr>
              <a:t>[14]  </a:t>
            </a:r>
            <a:r>
              <a:rPr lang="en-US" sz="980" dirty="0">
                <a:solidFill>
                  <a:srgbClr val="2E4057"/>
                </a:solidFill>
                <a:latin typeface="Calibri" pitchFamily="34" charset="0"/>
                <a:ea typeface="Calibri" pitchFamily="34" charset="-122"/>
                <a:cs typeface="Calibri" pitchFamily="34" charset="-120"/>
              </a:rPr>
              <a:t>arXiv:2510.06445 (2025). A Survey on Agentic Security: Applications, Threats and Defences.</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557"/>
          </a:solidFill>
          <a:ln w="12700">
            <a:solidFill>
              <a:srgbClr val="1A3557"/>
            </a:solidFill>
            <a:prstDash val="solid"/>
          </a:ln>
        </p:spPr>
        <p:txBody>
          <a:bodyPr/>
          <a:lstStyle/>
          <a:p>
            <a:endParaRPr lang="en-IN"/>
          </a:p>
        </p:txBody>
      </p:sp>
      <p:sp>
        <p:nvSpPr>
          <p:cNvPr id="3" name="Shape 1"/>
          <p:cNvSpPr/>
          <p:nvPr/>
        </p:nvSpPr>
        <p:spPr>
          <a:xfrm>
            <a:off x="0" y="0"/>
            <a:ext cx="182880" cy="5143500"/>
          </a:xfrm>
          <a:prstGeom prst="rect">
            <a:avLst/>
          </a:prstGeom>
          <a:solidFill>
            <a:srgbClr val="1A6EBD"/>
          </a:solidFill>
          <a:ln/>
        </p:spPr>
        <p:txBody>
          <a:bodyPr/>
          <a:lstStyle/>
          <a:p>
            <a:endParaRPr lang="en-IN"/>
          </a:p>
        </p:txBody>
      </p:sp>
      <p:sp>
        <p:nvSpPr>
          <p:cNvPr id="4" name="Shape 2"/>
          <p:cNvSpPr/>
          <p:nvPr/>
        </p:nvSpPr>
        <p:spPr>
          <a:xfrm>
            <a:off x="1371600" y="914400"/>
            <a:ext cx="6400800" cy="3291840"/>
          </a:xfrm>
          <a:prstGeom prst="rect">
            <a:avLst/>
          </a:prstGeom>
          <a:solidFill>
            <a:srgbClr val="FFFFFF">
              <a:alpha val="94000"/>
            </a:srgbClr>
          </a:solidFill>
          <a:ln w="10160">
            <a:solidFill>
              <a:srgbClr val="CADCFC"/>
            </a:solidFill>
            <a:prstDash val="solid"/>
          </a:ln>
        </p:spPr>
        <p:txBody>
          <a:bodyPr/>
          <a:lstStyle/>
          <a:p>
            <a:endParaRPr lang="en-IN"/>
          </a:p>
        </p:txBody>
      </p:sp>
      <p:sp>
        <p:nvSpPr>
          <p:cNvPr id="5" name="Text 3"/>
          <p:cNvSpPr/>
          <p:nvPr/>
        </p:nvSpPr>
        <p:spPr>
          <a:xfrm>
            <a:off x="1371600" y="1234440"/>
            <a:ext cx="6400800" cy="1371600"/>
          </a:xfrm>
          <a:prstGeom prst="rect">
            <a:avLst/>
          </a:prstGeom>
          <a:noFill/>
          <a:ln/>
        </p:spPr>
        <p:txBody>
          <a:bodyPr wrap="square" rtlCol="0" anchor="ctr"/>
          <a:lstStyle/>
          <a:p>
            <a:pPr marL="0" indent="0" algn="ctr">
              <a:buNone/>
            </a:pPr>
            <a:r>
              <a:rPr lang="en-US" sz="5600" b="1" dirty="0">
                <a:solidFill>
                  <a:srgbClr val="1A3557"/>
                </a:solidFill>
                <a:latin typeface="Cambria" pitchFamily="34" charset="0"/>
                <a:ea typeface="Cambria" pitchFamily="34" charset="-122"/>
                <a:cs typeface="Cambria" pitchFamily="34" charset="-120"/>
              </a:rPr>
              <a:t>Thank You</a:t>
            </a:r>
            <a:endParaRPr lang="en-US" sz="5600" dirty="0"/>
          </a:p>
        </p:txBody>
      </p:sp>
      <p:sp>
        <p:nvSpPr>
          <p:cNvPr id="6" name="Shape 4"/>
          <p:cNvSpPr/>
          <p:nvPr/>
        </p:nvSpPr>
        <p:spPr>
          <a:xfrm>
            <a:off x="3200400" y="2697480"/>
            <a:ext cx="2743200" cy="54864"/>
          </a:xfrm>
          <a:prstGeom prst="rect">
            <a:avLst/>
          </a:prstGeom>
          <a:solidFill>
            <a:srgbClr val="1A6EBD"/>
          </a:solidFill>
          <a:ln/>
        </p:spPr>
        <p:txBody>
          <a:bodyPr/>
          <a:lstStyle/>
          <a:p>
            <a:endParaRPr lang="en-IN"/>
          </a:p>
        </p:txBody>
      </p:sp>
      <p:sp>
        <p:nvSpPr>
          <p:cNvPr id="7" name="Text 5"/>
          <p:cNvSpPr/>
          <p:nvPr/>
        </p:nvSpPr>
        <p:spPr>
          <a:xfrm>
            <a:off x="1371600" y="2816352"/>
            <a:ext cx="6400800" cy="502920"/>
          </a:xfrm>
          <a:prstGeom prst="rect">
            <a:avLst/>
          </a:prstGeom>
          <a:noFill/>
          <a:ln/>
        </p:spPr>
        <p:txBody>
          <a:bodyPr wrap="square" rtlCol="0" anchor="ctr"/>
          <a:lstStyle/>
          <a:p>
            <a:pPr marL="0" indent="0" algn="ctr">
              <a:buNone/>
            </a:pPr>
            <a:r>
              <a:rPr lang="en-US" sz="2000" i="1" dirty="0">
                <a:solidFill>
                  <a:srgbClr val="1A6EBD"/>
                </a:solidFill>
                <a:latin typeface="Cambria" pitchFamily="34" charset="0"/>
                <a:ea typeface="Cambria" pitchFamily="34" charset="-122"/>
                <a:cs typeface="Cambria" pitchFamily="34" charset="-120"/>
              </a:rPr>
              <a:t>Questions &amp; Discussion</a:t>
            </a:r>
            <a:endParaRPr lang="en-US" sz="2000" dirty="0"/>
          </a:p>
        </p:txBody>
      </p:sp>
      <p:sp>
        <p:nvSpPr>
          <p:cNvPr id="8" name="Text 6"/>
          <p:cNvSpPr/>
          <p:nvPr/>
        </p:nvSpPr>
        <p:spPr>
          <a:xfrm>
            <a:off x="1371600" y="3456432"/>
            <a:ext cx="6400800" cy="411480"/>
          </a:xfrm>
          <a:prstGeom prst="rect">
            <a:avLst/>
          </a:prstGeom>
          <a:noFill/>
          <a:ln/>
        </p:spPr>
        <p:txBody>
          <a:bodyPr wrap="square" rtlCol="0" anchor="ctr"/>
          <a:lstStyle/>
          <a:p>
            <a:pPr marL="0" indent="0" algn="ctr">
              <a:buNone/>
            </a:pPr>
            <a:r>
              <a:rPr lang="en-US" sz="1400" b="1" dirty="0">
                <a:solidFill>
                  <a:srgbClr val="2E4057"/>
                </a:solidFill>
                <a:latin typeface="Calibri" pitchFamily="34" charset="0"/>
                <a:ea typeface="Calibri" pitchFamily="34" charset="-122"/>
                <a:cs typeface="Calibri" pitchFamily="34" charset="-120"/>
              </a:rPr>
              <a:t>Tharun S  ·  </a:t>
            </a:r>
            <a:r>
              <a:rPr lang="en-US" sz="1400" dirty="0">
                <a:solidFill>
                  <a:srgbClr val="6B7C93"/>
                </a:solidFill>
                <a:latin typeface="Calibri" pitchFamily="34" charset="0"/>
                <a:ea typeface="Calibri" pitchFamily="34" charset="-122"/>
                <a:cs typeface="Calibri" pitchFamily="34" charset="-120"/>
              </a:rPr>
              <a:t>CB.SC.P2CYS24019  ·  </a:t>
            </a:r>
            <a:r>
              <a:rPr lang="en-US" sz="1400" dirty="0" err="1">
                <a:solidFill>
                  <a:srgbClr val="6B7C93"/>
                </a:solidFill>
                <a:latin typeface="Calibri" pitchFamily="34" charset="0"/>
                <a:ea typeface="Calibri" pitchFamily="34" charset="-122"/>
                <a:cs typeface="Calibri" pitchFamily="34" charset="-120"/>
              </a:rPr>
              <a:t>M.Tech</a:t>
            </a:r>
            <a:r>
              <a:rPr lang="en-US" sz="1400" dirty="0">
                <a:solidFill>
                  <a:srgbClr val="6B7C93"/>
                </a:solidFill>
                <a:latin typeface="Calibri" pitchFamily="34" charset="0"/>
                <a:ea typeface="Calibri" pitchFamily="34" charset="-122"/>
                <a:cs typeface="Calibri" pitchFamily="34" charset="-120"/>
              </a:rPr>
              <a:t> Cyber Security</a:t>
            </a:r>
            <a:endParaRPr lang="en-US" sz="1400" dirty="0"/>
          </a:p>
        </p:txBody>
      </p:sp>
      <p:sp>
        <p:nvSpPr>
          <p:cNvPr id="9" name="Shape 7"/>
          <p:cNvSpPr/>
          <p:nvPr/>
        </p:nvSpPr>
        <p:spPr>
          <a:xfrm>
            <a:off x="0" y="4736592"/>
            <a:ext cx="9144000" cy="406908"/>
          </a:xfrm>
          <a:prstGeom prst="rect">
            <a:avLst/>
          </a:prstGeom>
          <a:solidFill>
            <a:srgbClr val="1A6EBD"/>
          </a:solidFill>
          <a:ln/>
        </p:spPr>
        <p:txBody>
          <a:bodyPr/>
          <a:lstStyle/>
          <a:p>
            <a:endParaRPr lang="en-IN"/>
          </a:p>
        </p:txBody>
      </p:sp>
      <p:sp>
        <p:nvSpPr>
          <p:cNvPr id="10" name="Text 8"/>
          <p:cNvSpPr/>
          <p:nvPr/>
        </p:nvSpPr>
        <p:spPr>
          <a:xfrm>
            <a:off x="274320" y="4754880"/>
            <a:ext cx="85953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Guide: Dr. S. Durga  ·  Assistant Professor  ·  TIFAC-CORE in Cyber Security  ·  Amrita Vishwa Vidyapeetham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6097</TotalTime>
  <Words>2299</Words>
  <Application>Microsoft Office PowerPoint</Application>
  <PresentationFormat>On-screen Show (16:9)</PresentationFormat>
  <Paragraphs>260</Paragraphs>
  <Slides>19</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Agentic AI: From Attacks to Real-Time Mitigation Strategies</dc:title>
  <dc:subject>PptxGenJS Presentation</dc:subject>
  <dc:creator>Tharun S</dc:creator>
  <cp:lastModifiedBy>tharun selvadurai</cp:lastModifiedBy>
  <cp:revision>6</cp:revision>
  <dcterms:created xsi:type="dcterms:W3CDTF">2026-02-11T06:11:10Z</dcterms:created>
  <dcterms:modified xsi:type="dcterms:W3CDTF">2026-03-29T08:52:08Z</dcterms:modified>
</cp:coreProperties>
</file>